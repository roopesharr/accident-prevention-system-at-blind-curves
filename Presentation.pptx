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56" r:id="rId2"/>
    <p:sldId id="293" r:id="rId3"/>
    <p:sldId id="309" r:id="rId4"/>
    <p:sldId id="298" r:id="rId5"/>
    <p:sldId id="299" r:id="rId6"/>
    <p:sldId id="300" r:id="rId7"/>
    <p:sldId id="301" r:id="rId8"/>
    <p:sldId id="302" r:id="rId9"/>
    <p:sldId id="303" r:id="rId10"/>
    <p:sldId id="304" r:id="rId11"/>
    <p:sldId id="311" r:id="rId12"/>
    <p:sldId id="312" r:id="rId13"/>
    <p:sldId id="313" r:id="rId14"/>
    <p:sldId id="308" r:id="rId15"/>
    <p:sldId id="310" r:id="rId16"/>
  </p:sldIdLst>
  <p:sldSz cx="9144000" cy="5143500" type="screen16x9"/>
  <p:notesSz cx="6858000" cy="9144000"/>
  <p:defaultTex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400" b="0" i="0" u="none" strike="noStrike" cap="none" spc="0" normalizeH="0" baseline="0">
        <a:ln>
          <a:noFill/>
        </a:ln>
        <a:solidFill>
          <a:srgbClr val="000000"/>
        </a:solidFill>
        <a:effectLst/>
        <a:uFillTx/>
        <a:latin typeface="+mj-lt"/>
        <a:ea typeface="+mj-ea"/>
        <a:cs typeface="+mj-cs"/>
        <a:sym typeface="Arial" panose="020B0604020202020204"/>
      </a:defRPr>
    </a:lvl1pPr>
    <a:lvl2pPr marL="0" marR="0" indent="0" algn="l" defTabSz="914400" rtl="0" fontAlgn="auto" latinLnBrk="0" hangingPunct="0">
      <a:lnSpc>
        <a:spcPct val="100000"/>
      </a:lnSpc>
      <a:spcBef>
        <a:spcPts val="0"/>
      </a:spcBef>
      <a:spcAft>
        <a:spcPts val="0"/>
      </a:spcAft>
      <a:buClrTx/>
      <a:buSzTx/>
      <a:buFontTx/>
      <a:buNone/>
      <a:defRPr kumimoji="0" sz="1400" b="0" i="0" u="none" strike="noStrike" cap="none" spc="0" normalizeH="0" baseline="0">
        <a:ln>
          <a:noFill/>
        </a:ln>
        <a:solidFill>
          <a:srgbClr val="000000"/>
        </a:solidFill>
        <a:effectLst/>
        <a:uFillTx/>
        <a:latin typeface="+mj-lt"/>
        <a:ea typeface="+mj-ea"/>
        <a:cs typeface="+mj-cs"/>
        <a:sym typeface="Arial" panose="020B0604020202020204"/>
      </a:defRPr>
    </a:lvl2pPr>
    <a:lvl3pPr marL="0" marR="0" indent="0" algn="l" defTabSz="914400" rtl="0" fontAlgn="auto" latinLnBrk="0" hangingPunct="0">
      <a:lnSpc>
        <a:spcPct val="100000"/>
      </a:lnSpc>
      <a:spcBef>
        <a:spcPts val="0"/>
      </a:spcBef>
      <a:spcAft>
        <a:spcPts val="0"/>
      </a:spcAft>
      <a:buClrTx/>
      <a:buSzTx/>
      <a:buFontTx/>
      <a:buNone/>
      <a:defRPr kumimoji="0" sz="1400" b="0" i="0" u="none" strike="noStrike" cap="none" spc="0" normalizeH="0" baseline="0">
        <a:ln>
          <a:noFill/>
        </a:ln>
        <a:solidFill>
          <a:srgbClr val="000000"/>
        </a:solidFill>
        <a:effectLst/>
        <a:uFillTx/>
        <a:latin typeface="+mj-lt"/>
        <a:ea typeface="+mj-ea"/>
        <a:cs typeface="+mj-cs"/>
        <a:sym typeface="Arial" panose="020B0604020202020204"/>
      </a:defRPr>
    </a:lvl3pPr>
    <a:lvl4pPr marL="0" marR="0" indent="0" algn="l" defTabSz="914400" rtl="0" fontAlgn="auto" latinLnBrk="0" hangingPunct="0">
      <a:lnSpc>
        <a:spcPct val="100000"/>
      </a:lnSpc>
      <a:spcBef>
        <a:spcPts val="0"/>
      </a:spcBef>
      <a:spcAft>
        <a:spcPts val="0"/>
      </a:spcAft>
      <a:buClrTx/>
      <a:buSzTx/>
      <a:buFontTx/>
      <a:buNone/>
      <a:defRPr kumimoji="0" sz="1400" b="0" i="0" u="none" strike="noStrike" cap="none" spc="0" normalizeH="0" baseline="0">
        <a:ln>
          <a:noFill/>
        </a:ln>
        <a:solidFill>
          <a:srgbClr val="000000"/>
        </a:solidFill>
        <a:effectLst/>
        <a:uFillTx/>
        <a:latin typeface="+mj-lt"/>
        <a:ea typeface="+mj-ea"/>
        <a:cs typeface="+mj-cs"/>
        <a:sym typeface="Arial" panose="020B0604020202020204"/>
      </a:defRPr>
    </a:lvl4pPr>
    <a:lvl5pPr marL="0" marR="0" indent="0" algn="l" defTabSz="914400" rtl="0" fontAlgn="auto" latinLnBrk="0" hangingPunct="0">
      <a:lnSpc>
        <a:spcPct val="100000"/>
      </a:lnSpc>
      <a:spcBef>
        <a:spcPts val="0"/>
      </a:spcBef>
      <a:spcAft>
        <a:spcPts val="0"/>
      </a:spcAft>
      <a:buClrTx/>
      <a:buSzTx/>
      <a:buFontTx/>
      <a:buNone/>
      <a:defRPr kumimoji="0" sz="1400" b="0" i="0" u="none" strike="noStrike" cap="none" spc="0" normalizeH="0" baseline="0">
        <a:ln>
          <a:noFill/>
        </a:ln>
        <a:solidFill>
          <a:srgbClr val="000000"/>
        </a:solidFill>
        <a:effectLst/>
        <a:uFillTx/>
        <a:latin typeface="+mj-lt"/>
        <a:ea typeface="+mj-ea"/>
        <a:cs typeface="+mj-cs"/>
        <a:sym typeface="Arial" panose="020B0604020202020204"/>
      </a:defRPr>
    </a:lvl5pPr>
    <a:lvl6pPr marL="0" marR="0" indent="0" algn="l" defTabSz="914400" rtl="0" fontAlgn="auto" latinLnBrk="0" hangingPunct="0">
      <a:lnSpc>
        <a:spcPct val="100000"/>
      </a:lnSpc>
      <a:spcBef>
        <a:spcPts val="0"/>
      </a:spcBef>
      <a:spcAft>
        <a:spcPts val="0"/>
      </a:spcAft>
      <a:buClrTx/>
      <a:buSzTx/>
      <a:buFontTx/>
      <a:buNone/>
      <a:defRPr kumimoji="0" sz="1400" b="0" i="0" u="none" strike="noStrike" cap="none" spc="0" normalizeH="0" baseline="0">
        <a:ln>
          <a:noFill/>
        </a:ln>
        <a:solidFill>
          <a:srgbClr val="000000"/>
        </a:solidFill>
        <a:effectLst/>
        <a:uFillTx/>
        <a:latin typeface="+mj-lt"/>
        <a:ea typeface="+mj-ea"/>
        <a:cs typeface="+mj-cs"/>
        <a:sym typeface="Arial" panose="020B0604020202020204"/>
      </a:defRPr>
    </a:lvl6pPr>
    <a:lvl7pPr marL="0" marR="0" indent="0" algn="l" defTabSz="914400" rtl="0" fontAlgn="auto" latinLnBrk="0" hangingPunct="0">
      <a:lnSpc>
        <a:spcPct val="100000"/>
      </a:lnSpc>
      <a:spcBef>
        <a:spcPts val="0"/>
      </a:spcBef>
      <a:spcAft>
        <a:spcPts val="0"/>
      </a:spcAft>
      <a:buClrTx/>
      <a:buSzTx/>
      <a:buFontTx/>
      <a:buNone/>
      <a:defRPr kumimoji="0" sz="1400" b="0" i="0" u="none" strike="noStrike" cap="none" spc="0" normalizeH="0" baseline="0">
        <a:ln>
          <a:noFill/>
        </a:ln>
        <a:solidFill>
          <a:srgbClr val="000000"/>
        </a:solidFill>
        <a:effectLst/>
        <a:uFillTx/>
        <a:latin typeface="+mj-lt"/>
        <a:ea typeface="+mj-ea"/>
        <a:cs typeface="+mj-cs"/>
        <a:sym typeface="Arial" panose="020B0604020202020204"/>
      </a:defRPr>
    </a:lvl7pPr>
    <a:lvl8pPr marL="0" marR="0" indent="0" algn="l" defTabSz="914400" rtl="0" fontAlgn="auto" latinLnBrk="0" hangingPunct="0">
      <a:lnSpc>
        <a:spcPct val="100000"/>
      </a:lnSpc>
      <a:spcBef>
        <a:spcPts val="0"/>
      </a:spcBef>
      <a:spcAft>
        <a:spcPts val="0"/>
      </a:spcAft>
      <a:buClrTx/>
      <a:buSzTx/>
      <a:buFontTx/>
      <a:buNone/>
      <a:defRPr kumimoji="0" sz="1400" b="0" i="0" u="none" strike="noStrike" cap="none" spc="0" normalizeH="0" baseline="0">
        <a:ln>
          <a:noFill/>
        </a:ln>
        <a:solidFill>
          <a:srgbClr val="000000"/>
        </a:solidFill>
        <a:effectLst/>
        <a:uFillTx/>
        <a:latin typeface="+mj-lt"/>
        <a:ea typeface="+mj-ea"/>
        <a:cs typeface="+mj-cs"/>
        <a:sym typeface="Arial" panose="020B0604020202020204"/>
      </a:defRPr>
    </a:lvl8pPr>
    <a:lvl9pPr marL="0" marR="0" indent="0" algn="l" defTabSz="914400" rtl="0" fontAlgn="auto" latinLnBrk="0" hangingPunct="0">
      <a:lnSpc>
        <a:spcPct val="100000"/>
      </a:lnSpc>
      <a:spcBef>
        <a:spcPts val="0"/>
      </a:spcBef>
      <a:spcAft>
        <a:spcPts val="0"/>
      </a:spcAft>
      <a:buClrTx/>
      <a:buSzTx/>
      <a:buFontTx/>
      <a:buNone/>
      <a:defRPr kumimoji="0" sz="1400" b="0" i="0" u="none" strike="noStrike" cap="none" spc="0" normalizeH="0" baseline="0">
        <a:ln>
          <a:noFill/>
        </a:ln>
        <a:solidFill>
          <a:srgbClr val="000000"/>
        </a:solidFill>
        <a:effectLst/>
        <a:uFillTx/>
        <a:latin typeface="+mj-lt"/>
        <a:ea typeface="+mj-ea"/>
        <a:cs typeface="+mj-cs"/>
        <a:sym typeface="Arial" panose="020B0604020202020204"/>
      </a:defRPr>
    </a:lvl9pPr>
  </p:defaultTextStyle>
  <p:extLst>
    <p:ext uri="{521415D9-36F7-43E2-AB2F-B90AF26B5E84}">
      <p14:sectionLst xmlns:p14="http://schemas.microsoft.com/office/powerpoint/2010/main">
        <p14:section name="Default Section" id="{BD881D74-E7C7-42EB-861E-7AF10DC74953}">
          <p14:sldIdLst>
            <p14:sldId id="256"/>
            <p14:sldId id="293"/>
            <p14:sldId id="309"/>
            <p14:sldId id="298"/>
            <p14:sldId id="299"/>
            <p14:sldId id="300"/>
            <p14:sldId id="301"/>
            <p14:sldId id="302"/>
            <p14:sldId id="303"/>
            <p14:sldId id="304"/>
            <p14:sldId id="311"/>
            <p14:sldId id="312"/>
            <p14:sldId id="313"/>
            <p14:sldId id="308"/>
            <p14:sldId id="31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file>

<file path=ppt/viewProps.xml><?xml version="1.0" encoding="utf-8"?>
<p:viewPr xmlns:a="http://schemas.openxmlformats.org/drawingml/2006/main" xmlns:r="http://schemas.openxmlformats.org/officeDocument/2006/relationships" xmlns:p="http://schemas.openxmlformats.org/presentationml/2006/main">
  <p:normalViewPr>
    <p:restoredLeft sz="16510" autoAdjust="0"/>
    <p:restoredTop sz="94660"/>
  </p:normalViewPr>
  <p:slideViewPr>
    <p:cSldViewPr snapToGrid="0">
      <p:cViewPr varScale="1">
        <p:scale>
          <a:sx n="107" d="100"/>
          <a:sy n="107" d="100"/>
        </p:scale>
        <p:origin x="715"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7" name="Shape 57"/>
          <p:cNvSpPr>
            <a:spLocks noGrp="1" noRot="1" noChangeAspect="1"/>
          </p:cNvSpPr>
          <p:nvPr>
            <p:ph type="sldImg"/>
          </p:nvPr>
        </p:nvSpPr>
        <p:spPr>
          <a:xfrm>
            <a:off x="1143000" y="685800"/>
            <a:ext cx="4572000" cy="3429000"/>
          </a:xfrm>
          <a:prstGeom prst="rect">
            <a:avLst/>
          </a:prstGeom>
        </p:spPr>
        <p:txBody>
          <a:bodyPr/>
          <a:lstStyle/>
          <a:p>
            <a:endParaRPr/>
          </a:p>
        </p:txBody>
      </p:sp>
      <p:sp>
        <p:nvSpPr>
          <p:cNvPr id="58" name="Shape 58"/>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400">
        <a:latin typeface="+mj-lt"/>
        <a:ea typeface="+mj-ea"/>
        <a:cs typeface="+mj-cs"/>
        <a:sym typeface="Arial" panose="020B0604020202020204"/>
      </a:defRPr>
    </a:lvl1pPr>
    <a:lvl2pPr indent="228600" latinLnBrk="0">
      <a:defRPr sz="1400">
        <a:latin typeface="+mj-lt"/>
        <a:ea typeface="+mj-ea"/>
        <a:cs typeface="+mj-cs"/>
        <a:sym typeface="Arial" panose="020B0604020202020204"/>
      </a:defRPr>
    </a:lvl2pPr>
    <a:lvl3pPr indent="457200" latinLnBrk="0">
      <a:defRPr sz="1400">
        <a:latin typeface="+mj-lt"/>
        <a:ea typeface="+mj-ea"/>
        <a:cs typeface="+mj-cs"/>
        <a:sym typeface="Arial" panose="020B0604020202020204"/>
      </a:defRPr>
    </a:lvl3pPr>
    <a:lvl4pPr indent="685800" latinLnBrk="0">
      <a:defRPr sz="1400">
        <a:latin typeface="+mj-lt"/>
        <a:ea typeface="+mj-ea"/>
        <a:cs typeface="+mj-cs"/>
        <a:sym typeface="Arial" panose="020B0604020202020204"/>
      </a:defRPr>
    </a:lvl4pPr>
    <a:lvl5pPr indent="914400" latinLnBrk="0">
      <a:defRPr sz="1400">
        <a:latin typeface="+mj-lt"/>
        <a:ea typeface="+mj-ea"/>
        <a:cs typeface="+mj-cs"/>
        <a:sym typeface="Arial" panose="020B0604020202020204"/>
      </a:defRPr>
    </a:lvl5pPr>
    <a:lvl6pPr indent="1143000" latinLnBrk="0">
      <a:defRPr sz="1400">
        <a:latin typeface="+mj-lt"/>
        <a:ea typeface="+mj-ea"/>
        <a:cs typeface="+mj-cs"/>
        <a:sym typeface="Arial" panose="020B0604020202020204"/>
      </a:defRPr>
    </a:lvl6pPr>
    <a:lvl7pPr indent="1371600" latinLnBrk="0">
      <a:defRPr sz="1400">
        <a:latin typeface="+mj-lt"/>
        <a:ea typeface="+mj-ea"/>
        <a:cs typeface="+mj-cs"/>
        <a:sym typeface="Arial" panose="020B0604020202020204"/>
      </a:defRPr>
    </a:lvl7pPr>
    <a:lvl8pPr indent="1600200" latinLnBrk="0">
      <a:defRPr sz="1400">
        <a:latin typeface="+mj-lt"/>
        <a:ea typeface="+mj-ea"/>
        <a:cs typeface="+mj-cs"/>
        <a:sym typeface="Arial" panose="020B0604020202020204"/>
      </a:defRPr>
    </a:lvl8pPr>
    <a:lvl9pPr indent="1828800" latinLnBrk="0">
      <a:defRPr sz="1400">
        <a:latin typeface="+mj-lt"/>
        <a:ea typeface="+mj-ea"/>
        <a:cs typeface="+mj-cs"/>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B103C7-4822-8175-DBC6-56D99A6B82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DE228D-FDCC-A333-3EE5-11AD5FE16AC6}"/>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7E507D6F-6D3F-6A36-5D9A-D8AAEEFC8CFD}"/>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1884061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A6D691-3807-DCE9-0970-2E2D7C288C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D454C2-8E0D-07A6-CF41-B4D7B2988045}"/>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AE7C9F89-0EEA-24E4-AA02-9A96E86C0CC2}"/>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1764889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70944F-6685-EF71-E9A3-56885468C7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833E6F-E7B8-E980-5FDF-6AD3C4B30B64}"/>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C8E9AFBD-D2BC-E6DB-D5CB-10C8DD974ED3}"/>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6073703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8D3C56-1D5F-1854-C377-F70884656E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E88E49-BA6E-1CA2-A00E-AC91FEB7FB2B}"/>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C0DF80D6-D2A8-CEF7-4EEB-CD11FBBC9D1F}"/>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140068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534B3E-585C-DD28-D8CC-0132458406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5E574C-1754-7626-2EEA-99D59DD6DEAB}"/>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97C85058-2A20-4C36-6C39-62DFEBC7C0AC}"/>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8017544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AB295C-1C17-6F48-C6A3-70B689FECA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803C14-9F91-6BF3-8ACB-B59CF34925D4}"/>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1CEFB028-7C90-7B3D-62ED-F8CAF1B49ADF}"/>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1665239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892F97-BFB9-E91A-2D05-BD7E67B835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412F0C-1F90-76FC-C722-2EDD75299DC1}"/>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5F54F03F-7CEE-1BBC-AD7C-217E93437618}"/>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7550634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5D50C0-CD11-9830-2166-DF8E987690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6986BE-C9E5-526A-A6A1-6169290A8E3F}"/>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7A2F0434-936F-C216-5C51-40E21F5C4498}"/>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4302718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21079C-4893-BC4C-ED40-4044DB254E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4B58CB-C9AD-BFAE-E227-3F00298DCF19}"/>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BEAEF389-E8DC-19E0-F7DE-DD7FB54FD4AA}"/>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0415030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915339-022F-BA66-EB10-8A0E7D29AE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8AC0C4-61B4-4698-F958-3031DF22947E}"/>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1162B0D1-2E4E-D68B-9522-B14302F51354}"/>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2501010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19842-B3B4-6600-2F04-AC4CAC9508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635135-9959-7A9C-6412-C9CFF923F708}"/>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8D005AA2-7756-A534-C743-53DA0868527C}"/>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4085175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EAF48D-2080-0351-8DDA-C196694F2B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A73D4B-423F-FFF3-1769-AE0540B24A33}"/>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4040C294-9A1D-6D46-7D8D-46E193259F42}"/>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0225436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CD863E-9C72-A3BB-84F4-E789EE2394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701279-8EA4-E08C-BC9F-33C68DB2A202}"/>
              </a:ext>
            </a:extLst>
          </p:cNvPr>
          <p:cNvSpPr>
            <a:spLocks noGrp="1" noRot="1" noChangeAspect="1"/>
          </p:cNvSpPr>
          <p:nvPr>
            <p:ph type="sldImg"/>
          </p:nvPr>
        </p:nvSpPr>
        <p:spPr>
          <a:xfrm>
            <a:off x="381000" y="685800"/>
            <a:ext cx="6096000" cy="3429000"/>
          </a:xfrm>
        </p:spPr>
        <p:txBody>
          <a:bodyPr/>
          <a:lstStyle/>
          <a:p>
            <a:endParaRPr lang="en-IN"/>
          </a:p>
        </p:txBody>
      </p:sp>
      <p:sp>
        <p:nvSpPr>
          <p:cNvPr id="3" name="Notes Placeholder 2">
            <a:extLst>
              <a:ext uri="{FF2B5EF4-FFF2-40B4-BE49-F238E27FC236}">
                <a16:creationId xmlns:a16="http://schemas.microsoft.com/office/drawing/2014/main" id="{44690E87-4AB2-7420-D8E2-8030987A0C0E}"/>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5854905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OBJECT">
    <p:spTree>
      <p:nvGrpSpPr>
        <p:cNvPr id="1" name=""/>
        <p:cNvGrpSpPr/>
        <p:nvPr/>
      </p:nvGrpSpPr>
      <p:grpSpPr>
        <a:xfrm>
          <a:off x="0" y="0"/>
          <a:ext cx="0" cy="0"/>
          <a:chOff x="0" y="0"/>
          <a:chExt cx="0" cy="0"/>
        </a:xfrm>
      </p:grpSpPr>
      <p:sp>
        <p:nvSpPr>
          <p:cNvPr id="11" name="Title Text"/>
          <p:cNvSpPr txBox="1">
            <a:spLocks noGrp="1"/>
          </p:cNvSpPr>
          <p:nvPr>
            <p:ph type="title" hasCustomPrompt="1"/>
          </p:nvPr>
        </p:nvSpPr>
        <p:spPr>
          <a:prstGeom prst="rect">
            <a:avLst/>
          </a:prstGeom>
        </p:spPr>
        <p:txBody>
          <a:bodyPr/>
          <a:lstStyle/>
          <a:p>
            <a:r>
              <a:t>Title Text</a:t>
            </a:r>
          </a:p>
        </p:txBody>
      </p:sp>
      <p:sp>
        <p:nvSpPr>
          <p:cNvPr id="12" name="Body Level One…"/>
          <p:cNvSpPr txBox="1">
            <a:spLocks noGrp="1"/>
          </p:cNvSpPr>
          <p:nvPr>
            <p:ph type="body" idx="1" hasCustomPrompt="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13"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VERTICAL_TEXT">
    <p:spTree>
      <p:nvGrpSpPr>
        <p:cNvPr id="1" name=""/>
        <p:cNvGrpSpPr/>
        <p:nvPr/>
      </p:nvGrpSpPr>
      <p:grpSpPr>
        <a:xfrm>
          <a:off x="0" y="0"/>
          <a:ext cx="0" cy="0"/>
          <a:chOff x="0" y="0"/>
          <a:chExt cx="0" cy="0"/>
        </a:xfrm>
      </p:grpSpPr>
      <p:sp>
        <p:nvSpPr>
          <p:cNvPr id="40" name="Title Text"/>
          <p:cNvSpPr txBox="1">
            <a:spLocks noGrp="1"/>
          </p:cNvSpPr>
          <p:nvPr>
            <p:ph type="title" hasCustomPrompt="1"/>
          </p:nvPr>
        </p:nvSpPr>
        <p:spPr>
          <a:prstGeom prst="rect">
            <a:avLst/>
          </a:prstGeom>
        </p:spPr>
        <p:txBody>
          <a:bodyPr/>
          <a:lstStyle/>
          <a:p>
            <a:r>
              <a:t>Title Text</a:t>
            </a:r>
          </a:p>
        </p:txBody>
      </p:sp>
      <p:sp>
        <p:nvSpPr>
          <p:cNvPr id="41" name="Body Level One…"/>
          <p:cNvSpPr txBox="1">
            <a:spLocks noGrp="1"/>
          </p:cNvSpPr>
          <p:nvPr>
            <p:ph type="body" idx="1" hasCustomPrompt="1"/>
          </p:nvPr>
        </p:nvSpPr>
        <p:spPr>
          <a:xfrm rot="5400000">
            <a:off x="2874751" y="-1217400"/>
            <a:ext cx="3394501" cy="8229601"/>
          </a:xfrm>
          <a:prstGeom prst="rect">
            <a:avLst/>
          </a:prstGeom>
        </p:spPr>
        <p:txBody>
          <a:bodyPr/>
          <a:lstStyle>
            <a:lvl1pPr indent="-342900">
              <a:spcBef>
                <a:spcPts val="0"/>
              </a:spcBef>
            </a:lvl1pPr>
            <a:lvl2pPr marL="963930" indent="-392430">
              <a:spcBef>
                <a:spcPts val="0"/>
              </a:spcBef>
            </a:lvl2pPr>
            <a:lvl3pPr marL="1487170" indent="-458470">
              <a:spcBef>
                <a:spcPts val="0"/>
              </a:spcBef>
            </a:lvl3pPr>
            <a:lvl4pPr marL="2036445" indent="-550545">
              <a:spcBef>
                <a:spcPts val="0"/>
              </a:spcBef>
            </a:lvl4pPr>
            <a:lvl5pPr marL="2493645" indent="-550545">
              <a:spcBef>
                <a:spcPts val="0"/>
              </a:spcBef>
            </a:lvl5pPr>
          </a:lstStyle>
          <a:p>
            <a:r>
              <a:t>Body Level One</a:t>
            </a:r>
          </a:p>
          <a:p>
            <a:pPr lvl="1"/>
            <a:r>
              <a:t>Body Level Two</a:t>
            </a:r>
          </a:p>
          <a:p>
            <a:pPr lvl="2"/>
            <a:r>
              <a:t>Body Level Three</a:t>
            </a:r>
          </a:p>
          <a:p>
            <a:pPr lvl="3"/>
            <a:r>
              <a:t>Body Level Four</a:t>
            </a:r>
          </a:p>
          <a:p>
            <a:pPr lvl="4"/>
            <a:r>
              <a:t>Body Level Five</a:t>
            </a:r>
          </a:p>
        </p:txBody>
      </p:sp>
      <p:sp>
        <p:nvSpPr>
          <p:cNvPr id="42"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VERTICAL_TITLE_AND_VERTICAL_TEXT">
    <p:spTree>
      <p:nvGrpSpPr>
        <p:cNvPr id="1" name=""/>
        <p:cNvGrpSpPr/>
        <p:nvPr/>
      </p:nvGrpSpPr>
      <p:grpSpPr>
        <a:xfrm>
          <a:off x="0" y="0"/>
          <a:ext cx="0" cy="0"/>
          <a:chOff x="0" y="0"/>
          <a:chExt cx="0" cy="0"/>
        </a:xfrm>
      </p:grpSpPr>
      <p:sp>
        <p:nvSpPr>
          <p:cNvPr id="49" name="Title Text"/>
          <p:cNvSpPr txBox="1">
            <a:spLocks noGrp="1"/>
          </p:cNvSpPr>
          <p:nvPr>
            <p:ph type="title" hasCustomPrompt="1"/>
          </p:nvPr>
        </p:nvSpPr>
        <p:spPr>
          <a:xfrm rot="5400000">
            <a:off x="5463750" y="1371630"/>
            <a:ext cx="4388701" cy="2057401"/>
          </a:xfrm>
          <a:prstGeom prst="rect">
            <a:avLst/>
          </a:prstGeom>
        </p:spPr>
        <p:txBody>
          <a:bodyPr/>
          <a:lstStyle/>
          <a:p>
            <a:r>
              <a:t>Title Text</a:t>
            </a:r>
          </a:p>
        </p:txBody>
      </p:sp>
      <p:sp>
        <p:nvSpPr>
          <p:cNvPr id="50" name="Body Level One…"/>
          <p:cNvSpPr txBox="1">
            <a:spLocks noGrp="1"/>
          </p:cNvSpPr>
          <p:nvPr>
            <p:ph type="body" idx="1" hasCustomPrompt="1"/>
          </p:nvPr>
        </p:nvSpPr>
        <p:spPr>
          <a:xfrm rot="5400000">
            <a:off x="1272750" y="-609571"/>
            <a:ext cx="4388700" cy="6019801"/>
          </a:xfrm>
          <a:prstGeom prst="rect">
            <a:avLst/>
          </a:prstGeom>
        </p:spPr>
        <p:txBody>
          <a:bodyPr/>
          <a:lstStyle>
            <a:lvl1pPr indent="-342900">
              <a:spcBef>
                <a:spcPts val="0"/>
              </a:spcBef>
            </a:lvl1pPr>
            <a:lvl2pPr marL="963930" indent="-392430">
              <a:spcBef>
                <a:spcPts val="0"/>
              </a:spcBef>
            </a:lvl2pPr>
            <a:lvl3pPr marL="1487170" indent="-458470">
              <a:spcBef>
                <a:spcPts val="0"/>
              </a:spcBef>
            </a:lvl3pPr>
            <a:lvl4pPr marL="2036445" indent="-550545">
              <a:spcBef>
                <a:spcPts val="0"/>
              </a:spcBef>
            </a:lvl4pPr>
            <a:lvl5pPr marL="2493645" indent="-550545">
              <a:spcBef>
                <a:spcPts val="0"/>
              </a:spcBef>
            </a:lvl5pPr>
          </a:lstStyle>
          <a:p>
            <a:r>
              <a:t>Body Level One</a:t>
            </a:r>
          </a:p>
          <a:p>
            <a:pPr lvl="1"/>
            <a:r>
              <a:t>Body Level Two</a:t>
            </a:r>
          </a:p>
          <a:p>
            <a:pPr lvl="2"/>
            <a:r>
              <a:t>Body Level Three</a:t>
            </a:r>
          </a:p>
          <a:p>
            <a:pPr lvl="3"/>
            <a:r>
              <a:t>Body Level Four</a:t>
            </a:r>
          </a:p>
          <a:p>
            <a:pPr lvl="4"/>
            <a:r>
              <a:t>Body Level Five</a:t>
            </a:r>
          </a:p>
        </p:txBody>
      </p:sp>
      <p:sp>
        <p:nvSpPr>
          <p:cNvPr id="51"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5"/>
          <a:srcRect/>
          <a:stretch>
            <a:fillRect/>
          </a:stretch>
        </a:blip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457200" y="205978"/>
            <a:ext cx="8229600" cy="857400"/>
          </a:xfrm>
          <a:prstGeom prst="rect">
            <a:avLst/>
          </a:prstGeom>
          <a:ln w="12700">
            <a:miter lim="400000"/>
          </a:ln>
        </p:spPr>
        <p:txBody>
          <a:bodyPr lIns="47025" tIns="47025" rIns="47025" bIns="47025" anchor="ctr">
            <a:normAutofit/>
          </a:bodyPr>
          <a:lstStyle/>
          <a:p>
            <a:r>
              <a:t>Title Text</a:t>
            </a:r>
          </a:p>
        </p:txBody>
      </p:sp>
      <p:sp>
        <p:nvSpPr>
          <p:cNvPr id="3" name="Body Level One…"/>
          <p:cNvSpPr txBox="1">
            <a:spLocks noGrp="1"/>
          </p:cNvSpPr>
          <p:nvPr>
            <p:ph type="body" idx="1"/>
          </p:nvPr>
        </p:nvSpPr>
        <p:spPr>
          <a:xfrm>
            <a:off x="457200" y="1200152"/>
            <a:ext cx="8229600" cy="3394501"/>
          </a:xfrm>
          <a:prstGeom prst="rect">
            <a:avLst/>
          </a:prstGeom>
          <a:ln w="12700">
            <a:miter lim="400000"/>
          </a:ln>
        </p:spPr>
        <p:txBody>
          <a:bodyPr lIns="47025" tIns="47025" rIns="47025" bIns="47025">
            <a:normAutofit/>
          </a:bodyPr>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8425566" y="4778756"/>
            <a:ext cx="261234" cy="250916"/>
          </a:xfrm>
          <a:prstGeom prst="rect">
            <a:avLst/>
          </a:prstGeom>
          <a:ln w="12700">
            <a:miter lim="400000"/>
          </a:ln>
        </p:spPr>
        <p:txBody>
          <a:bodyPr wrap="none" lIns="47025" tIns="47025" rIns="47025" bIns="47025" anchor="ctr">
            <a:spAutoFit/>
          </a:bodyPr>
          <a:lstStyle>
            <a:lvl1pPr algn="r">
              <a:defRPr sz="1200">
                <a:solidFill>
                  <a:srgbClr val="888888"/>
                </a:solidFill>
                <a:latin typeface="Calibri" panose="020F0502020204030204"/>
                <a:ea typeface="Calibri" panose="020F0502020204030204"/>
                <a:cs typeface="Calibri" panose="020F0502020204030204"/>
                <a:sym typeface="Calibri" panose="020F0502020204030204"/>
              </a:defRPr>
            </a:lvl1pPr>
          </a:lstStyle>
          <a:p>
            <a:fld id="{86CB4B4D-7CA3-9044-876B-883B54F8677D}" type="slidenum">
              <a:rPr/>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2" r:id="rId2"/>
    <p:sldLayoutId id="2147483653" r:id="rId3"/>
  </p:sldLayoutIdLst>
  <p:transition spd="med"/>
  <p:hf hdr="0" dt="0"/>
  <p:txStyles>
    <p:titleStyle>
      <a:lvl1pPr marL="0" marR="0" indent="0" algn="ctr" defTabSz="914400" rtl="0" eaLnBrk="1" latinLnBrk="0" hangingPunct="1">
        <a:lnSpc>
          <a:spcPct val="100000"/>
        </a:lnSpc>
        <a:spcBef>
          <a:spcPts val="0"/>
        </a:spcBef>
        <a:spcAft>
          <a:spcPts val="0"/>
        </a:spcAft>
        <a:buClrTx/>
        <a:buSzTx/>
        <a:buFontTx/>
        <a:buNone/>
        <a:defRPr sz="20700" b="0" i="0" u="none" strike="noStrike" cap="none" spc="0" baseline="0">
          <a:solidFill>
            <a:srgbClr val="000000"/>
          </a:solidFill>
          <a:uFillTx/>
          <a:latin typeface="Calibri" panose="020F0502020204030204"/>
          <a:ea typeface="Calibri" panose="020F0502020204030204"/>
          <a:cs typeface="Calibri" panose="020F0502020204030204"/>
          <a:sym typeface="Calibri" panose="020F0502020204030204"/>
        </a:defRPr>
      </a:lvl1pPr>
      <a:lvl2pPr marL="0" marR="0" indent="0" algn="ctr" defTabSz="914400" rtl="0" eaLnBrk="1" latinLnBrk="0" hangingPunct="1">
        <a:lnSpc>
          <a:spcPct val="100000"/>
        </a:lnSpc>
        <a:spcBef>
          <a:spcPts val="0"/>
        </a:spcBef>
        <a:spcAft>
          <a:spcPts val="0"/>
        </a:spcAft>
        <a:buClrTx/>
        <a:buSzTx/>
        <a:buFontTx/>
        <a:buNone/>
        <a:defRPr sz="20700" b="0" i="0" u="none" strike="noStrike" cap="none" spc="0" baseline="0">
          <a:solidFill>
            <a:srgbClr val="000000"/>
          </a:solidFill>
          <a:uFillTx/>
          <a:latin typeface="Calibri" panose="020F0502020204030204"/>
          <a:ea typeface="Calibri" panose="020F0502020204030204"/>
          <a:cs typeface="Calibri" panose="020F0502020204030204"/>
          <a:sym typeface="Calibri" panose="020F0502020204030204"/>
        </a:defRPr>
      </a:lvl2pPr>
      <a:lvl3pPr marL="0" marR="0" indent="0" algn="ctr" defTabSz="914400" rtl="0" eaLnBrk="1" latinLnBrk="0" hangingPunct="1">
        <a:lnSpc>
          <a:spcPct val="100000"/>
        </a:lnSpc>
        <a:spcBef>
          <a:spcPts val="0"/>
        </a:spcBef>
        <a:spcAft>
          <a:spcPts val="0"/>
        </a:spcAft>
        <a:buClrTx/>
        <a:buSzTx/>
        <a:buFontTx/>
        <a:buNone/>
        <a:defRPr sz="20700" b="0" i="0" u="none" strike="noStrike" cap="none" spc="0" baseline="0">
          <a:solidFill>
            <a:srgbClr val="000000"/>
          </a:solidFill>
          <a:uFillTx/>
          <a:latin typeface="Calibri" panose="020F0502020204030204"/>
          <a:ea typeface="Calibri" panose="020F0502020204030204"/>
          <a:cs typeface="Calibri" panose="020F0502020204030204"/>
          <a:sym typeface="Calibri" panose="020F0502020204030204"/>
        </a:defRPr>
      </a:lvl3pPr>
      <a:lvl4pPr marL="0" marR="0" indent="0" algn="ctr" defTabSz="914400" rtl="0" eaLnBrk="1" latinLnBrk="0" hangingPunct="1">
        <a:lnSpc>
          <a:spcPct val="100000"/>
        </a:lnSpc>
        <a:spcBef>
          <a:spcPts val="0"/>
        </a:spcBef>
        <a:spcAft>
          <a:spcPts val="0"/>
        </a:spcAft>
        <a:buClrTx/>
        <a:buSzTx/>
        <a:buFontTx/>
        <a:buNone/>
        <a:defRPr sz="20700" b="0" i="0" u="none" strike="noStrike" cap="none" spc="0" baseline="0">
          <a:solidFill>
            <a:srgbClr val="000000"/>
          </a:solidFill>
          <a:uFillTx/>
          <a:latin typeface="Calibri" panose="020F0502020204030204"/>
          <a:ea typeface="Calibri" panose="020F0502020204030204"/>
          <a:cs typeface="Calibri" panose="020F0502020204030204"/>
          <a:sym typeface="Calibri" panose="020F0502020204030204"/>
        </a:defRPr>
      </a:lvl4pPr>
      <a:lvl5pPr marL="0" marR="0" indent="0" algn="ctr" defTabSz="914400" rtl="0" eaLnBrk="1" latinLnBrk="0" hangingPunct="1">
        <a:lnSpc>
          <a:spcPct val="100000"/>
        </a:lnSpc>
        <a:spcBef>
          <a:spcPts val="0"/>
        </a:spcBef>
        <a:spcAft>
          <a:spcPts val="0"/>
        </a:spcAft>
        <a:buClrTx/>
        <a:buSzTx/>
        <a:buFontTx/>
        <a:buNone/>
        <a:defRPr sz="20700" b="0" i="0" u="none" strike="noStrike" cap="none" spc="0" baseline="0">
          <a:solidFill>
            <a:srgbClr val="000000"/>
          </a:solidFill>
          <a:uFillTx/>
          <a:latin typeface="Calibri" panose="020F0502020204030204"/>
          <a:ea typeface="Calibri" panose="020F0502020204030204"/>
          <a:cs typeface="Calibri" panose="020F0502020204030204"/>
          <a:sym typeface="Calibri" panose="020F0502020204030204"/>
        </a:defRPr>
      </a:lvl5pPr>
      <a:lvl6pPr marL="0" marR="0" indent="0" algn="ctr" defTabSz="914400" rtl="0" eaLnBrk="1" latinLnBrk="0" hangingPunct="1">
        <a:lnSpc>
          <a:spcPct val="100000"/>
        </a:lnSpc>
        <a:spcBef>
          <a:spcPts val="0"/>
        </a:spcBef>
        <a:spcAft>
          <a:spcPts val="0"/>
        </a:spcAft>
        <a:buClrTx/>
        <a:buSzTx/>
        <a:buFontTx/>
        <a:buNone/>
        <a:defRPr sz="20700" b="0" i="0" u="none" strike="noStrike" cap="none" spc="0" baseline="0">
          <a:solidFill>
            <a:srgbClr val="000000"/>
          </a:solidFill>
          <a:uFillTx/>
          <a:latin typeface="Calibri" panose="020F0502020204030204"/>
          <a:ea typeface="Calibri" panose="020F0502020204030204"/>
          <a:cs typeface="Calibri" panose="020F0502020204030204"/>
          <a:sym typeface="Calibri" panose="020F0502020204030204"/>
        </a:defRPr>
      </a:lvl6pPr>
      <a:lvl7pPr marL="0" marR="0" indent="0" algn="ctr" defTabSz="914400" rtl="0" eaLnBrk="1" latinLnBrk="0" hangingPunct="1">
        <a:lnSpc>
          <a:spcPct val="100000"/>
        </a:lnSpc>
        <a:spcBef>
          <a:spcPts val="0"/>
        </a:spcBef>
        <a:spcAft>
          <a:spcPts val="0"/>
        </a:spcAft>
        <a:buClrTx/>
        <a:buSzTx/>
        <a:buFontTx/>
        <a:buNone/>
        <a:defRPr sz="20700" b="0" i="0" u="none" strike="noStrike" cap="none" spc="0" baseline="0">
          <a:solidFill>
            <a:srgbClr val="000000"/>
          </a:solidFill>
          <a:uFillTx/>
          <a:latin typeface="Calibri" panose="020F0502020204030204"/>
          <a:ea typeface="Calibri" panose="020F0502020204030204"/>
          <a:cs typeface="Calibri" panose="020F0502020204030204"/>
          <a:sym typeface="Calibri" panose="020F0502020204030204"/>
        </a:defRPr>
      </a:lvl7pPr>
      <a:lvl8pPr marL="0" marR="0" indent="0" algn="ctr" defTabSz="914400" rtl="0" eaLnBrk="1" latinLnBrk="0" hangingPunct="1">
        <a:lnSpc>
          <a:spcPct val="100000"/>
        </a:lnSpc>
        <a:spcBef>
          <a:spcPts val="0"/>
        </a:spcBef>
        <a:spcAft>
          <a:spcPts val="0"/>
        </a:spcAft>
        <a:buClrTx/>
        <a:buSzTx/>
        <a:buFontTx/>
        <a:buNone/>
        <a:defRPr sz="20700" b="0" i="0" u="none" strike="noStrike" cap="none" spc="0" baseline="0">
          <a:solidFill>
            <a:srgbClr val="000000"/>
          </a:solidFill>
          <a:uFillTx/>
          <a:latin typeface="Calibri" panose="020F0502020204030204"/>
          <a:ea typeface="Calibri" panose="020F0502020204030204"/>
          <a:cs typeface="Calibri" panose="020F0502020204030204"/>
          <a:sym typeface="Calibri" panose="020F0502020204030204"/>
        </a:defRPr>
      </a:lvl8pPr>
      <a:lvl9pPr marL="0" marR="0" indent="0" algn="ctr" defTabSz="914400" rtl="0" eaLnBrk="1" latinLnBrk="0" hangingPunct="1">
        <a:lnSpc>
          <a:spcPct val="100000"/>
        </a:lnSpc>
        <a:spcBef>
          <a:spcPts val="0"/>
        </a:spcBef>
        <a:spcAft>
          <a:spcPts val="0"/>
        </a:spcAft>
        <a:buClrTx/>
        <a:buSzTx/>
        <a:buFontTx/>
        <a:buNone/>
        <a:defRPr sz="20700" b="0" i="0" u="none" strike="noStrike" cap="none" spc="0" baseline="0">
          <a:solidFill>
            <a:srgbClr val="000000"/>
          </a:solidFill>
          <a:uFillTx/>
          <a:latin typeface="Calibri" panose="020F0502020204030204"/>
          <a:ea typeface="Calibri" panose="020F0502020204030204"/>
          <a:cs typeface="Calibri" panose="020F0502020204030204"/>
          <a:sym typeface="Calibri" panose="020F0502020204030204"/>
        </a:defRPr>
      </a:lvl9pPr>
    </p:titleStyle>
    <p:bodyStyle>
      <a:lvl1pPr marL="457200" marR="0" indent="-1187450" algn="l" defTabSz="914400" rtl="0" eaLnBrk="1" latinLnBrk="0" hangingPunct="1">
        <a:lnSpc>
          <a:spcPct val="100000"/>
        </a:lnSpc>
        <a:spcBef>
          <a:spcPts val="3000"/>
        </a:spcBef>
        <a:spcAft>
          <a:spcPts val="0"/>
        </a:spcAft>
        <a:buClr>
          <a:srgbClr val="000000"/>
        </a:buClr>
        <a:buSzPts val="15100"/>
        <a:buFont typeface="Arial" panose="020B0604020202020204"/>
        <a:buChar char="•"/>
        <a:defRPr sz="15100" b="0" i="0" u="none" strike="noStrike" cap="none" spc="0" baseline="0">
          <a:solidFill>
            <a:srgbClr val="000000"/>
          </a:solidFill>
          <a:uFillTx/>
          <a:latin typeface="Calibri" panose="020F0502020204030204"/>
          <a:ea typeface="Calibri" panose="020F0502020204030204"/>
          <a:cs typeface="Calibri" panose="020F0502020204030204"/>
          <a:sym typeface="Calibri" panose="020F0502020204030204"/>
        </a:defRPr>
      </a:lvl1pPr>
      <a:lvl2pPr marL="1068070" marR="0" indent="-1220470" algn="l" defTabSz="914400" rtl="0" eaLnBrk="1" latinLnBrk="0" hangingPunct="1">
        <a:lnSpc>
          <a:spcPct val="100000"/>
        </a:lnSpc>
        <a:spcBef>
          <a:spcPts val="3000"/>
        </a:spcBef>
        <a:spcAft>
          <a:spcPts val="0"/>
        </a:spcAft>
        <a:buClr>
          <a:srgbClr val="000000"/>
        </a:buClr>
        <a:buSzPts val="15100"/>
        <a:buFont typeface="Arial" panose="020B0604020202020204"/>
        <a:buChar char="–"/>
        <a:defRPr sz="15100" b="0" i="0" u="none" strike="noStrike" cap="none" spc="0" baseline="0">
          <a:solidFill>
            <a:srgbClr val="000000"/>
          </a:solidFill>
          <a:uFillTx/>
          <a:latin typeface="Calibri" panose="020F0502020204030204"/>
          <a:ea typeface="Calibri" panose="020F0502020204030204"/>
          <a:cs typeface="Calibri" panose="020F0502020204030204"/>
          <a:sym typeface="Calibri" panose="020F0502020204030204"/>
        </a:defRPr>
      </a:lvl2pPr>
      <a:lvl3pPr marL="1689735" marR="0" indent="-1264285" algn="l" defTabSz="914400" rtl="0" eaLnBrk="1" latinLnBrk="0" hangingPunct="1">
        <a:lnSpc>
          <a:spcPct val="100000"/>
        </a:lnSpc>
        <a:spcBef>
          <a:spcPts val="3000"/>
        </a:spcBef>
        <a:spcAft>
          <a:spcPts val="0"/>
        </a:spcAft>
        <a:buClr>
          <a:srgbClr val="000000"/>
        </a:buClr>
        <a:buSzPts val="15100"/>
        <a:buFont typeface="Arial" panose="020B0604020202020204"/>
        <a:buChar char="•"/>
        <a:defRPr sz="15100" b="0" i="0" u="none" strike="noStrike" cap="none" spc="0" baseline="0">
          <a:solidFill>
            <a:srgbClr val="000000"/>
          </a:solidFill>
          <a:uFillTx/>
          <a:latin typeface="Calibri" panose="020F0502020204030204"/>
          <a:ea typeface="Calibri" panose="020F0502020204030204"/>
          <a:cs typeface="Calibri" panose="020F0502020204030204"/>
          <a:sym typeface="Calibri" panose="020F0502020204030204"/>
        </a:defRPr>
      </a:lvl3pPr>
      <a:lvl4pPr marL="2329180" marR="0" indent="-1325880" algn="l" defTabSz="914400" rtl="0" eaLnBrk="1" latinLnBrk="0" hangingPunct="1">
        <a:lnSpc>
          <a:spcPct val="100000"/>
        </a:lnSpc>
        <a:spcBef>
          <a:spcPts val="3000"/>
        </a:spcBef>
        <a:spcAft>
          <a:spcPts val="0"/>
        </a:spcAft>
        <a:buClr>
          <a:srgbClr val="000000"/>
        </a:buClr>
        <a:buSzPts val="15100"/>
        <a:buFont typeface="Arial" panose="020B0604020202020204"/>
        <a:buChar char="–"/>
        <a:defRPr sz="15100" b="0" i="0" u="none" strike="noStrike" cap="none" spc="0" baseline="0">
          <a:solidFill>
            <a:srgbClr val="000000"/>
          </a:solidFill>
          <a:uFillTx/>
          <a:latin typeface="Calibri" panose="020F0502020204030204"/>
          <a:ea typeface="Calibri" panose="020F0502020204030204"/>
          <a:cs typeface="Calibri" panose="020F0502020204030204"/>
          <a:sym typeface="Calibri" panose="020F0502020204030204"/>
        </a:defRPr>
      </a:lvl4pPr>
      <a:lvl5pPr marL="2786380" marR="0" indent="-1325880" algn="l" defTabSz="914400" rtl="0" eaLnBrk="1" latinLnBrk="0" hangingPunct="1">
        <a:lnSpc>
          <a:spcPct val="100000"/>
        </a:lnSpc>
        <a:spcBef>
          <a:spcPts val="3000"/>
        </a:spcBef>
        <a:spcAft>
          <a:spcPts val="0"/>
        </a:spcAft>
        <a:buClr>
          <a:srgbClr val="000000"/>
        </a:buClr>
        <a:buSzPts val="15100"/>
        <a:buFont typeface="Arial" panose="020B0604020202020204"/>
        <a:buChar char="»"/>
        <a:defRPr sz="15100" b="0" i="0" u="none" strike="noStrike" cap="none" spc="0" baseline="0">
          <a:solidFill>
            <a:srgbClr val="000000"/>
          </a:solidFill>
          <a:uFillTx/>
          <a:latin typeface="Calibri" panose="020F0502020204030204"/>
          <a:ea typeface="Calibri" panose="020F0502020204030204"/>
          <a:cs typeface="Calibri" panose="020F0502020204030204"/>
          <a:sym typeface="Calibri" panose="020F0502020204030204"/>
        </a:defRPr>
      </a:lvl5pPr>
      <a:lvl6pPr marL="3243580" marR="0" indent="-1325880" algn="l" defTabSz="914400" rtl="0" eaLnBrk="1" latinLnBrk="0" hangingPunct="1">
        <a:lnSpc>
          <a:spcPct val="100000"/>
        </a:lnSpc>
        <a:spcBef>
          <a:spcPts val="3000"/>
        </a:spcBef>
        <a:spcAft>
          <a:spcPts val="0"/>
        </a:spcAft>
        <a:buClr>
          <a:srgbClr val="000000"/>
        </a:buClr>
        <a:buSzPts val="15100"/>
        <a:buFont typeface="Arial" panose="020B0604020202020204"/>
        <a:buChar char="•"/>
        <a:defRPr sz="15100" b="0" i="0" u="none" strike="noStrike" cap="none" spc="0" baseline="0">
          <a:solidFill>
            <a:srgbClr val="000000"/>
          </a:solidFill>
          <a:uFillTx/>
          <a:latin typeface="Calibri" panose="020F0502020204030204"/>
          <a:ea typeface="Calibri" panose="020F0502020204030204"/>
          <a:cs typeface="Calibri" panose="020F0502020204030204"/>
          <a:sym typeface="Calibri" panose="020F0502020204030204"/>
        </a:defRPr>
      </a:lvl6pPr>
      <a:lvl7pPr marL="3700780" marR="0" indent="-1325880" algn="l" defTabSz="914400" rtl="0" eaLnBrk="1" latinLnBrk="0" hangingPunct="1">
        <a:lnSpc>
          <a:spcPct val="100000"/>
        </a:lnSpc>
        <a:spcBef>
          <a:spcPts val="3000"/>
        </a:spcBef>
        <a:spcAft>
          <a:spcPts val="0"/>
        </a:spcAft>
        <a:buClr>
          <a:srgbClr val="000000"/>
        </a:buClr>
        <a:buSzPts val="15100"/>
        <a:buFont typeface="Arial" panose="020B0604020202020204"/>
        <a:buChar char="•"/>
        <a:defRPr sz="15100" b="0" i="0" u="none" strike="noStrike" cap="none" spc="0" baseline="0">
          <a:solidFill>
            <a:srgbClr val="000000"/>
          </a:solidFill>
          <a:uFillTx/>
          <a:latin typeface="Calibri" panose="020F0502020204030204"/>
          <a:ea typeface="Calibri" panose="020F0502020204030204"/>
          <a:cs typeface="Calibri" panose="020F0502020204030204"/>
          <a:sym typeface="Calibri" panose="020F0502020204030204"/>
        </a:defRPr>
      </a:lvl7pPr>
      <a:lvl8pPr marL="4157980" marR="0" indent="-1325880" algn="l" defTabSz="914400" rtl="0" eaLnBrk="1" latinLnBrk="0" hangingPunct="1">
        <a:lnSpc>
          <a:spcPct val="100000"/>
        </a:lnSpc>
        <a:spcBef>
          <a:spcPts val="3000"/>
        </a:spcBef>
        <a:spcAft>
          <a:spcPts val="0"/>
        </a:spcAft>
        <a:buClr>
          <a:srgbClr val="000000"/>
        </a:buClr>
        <a:buSzPts val="15100"/>
        <a:buFont typeface="Arial" panose="020B0604020202020204"/>
        <a:buChar char="•"/>
        <a:defRPr sz="15100" b="0" i="0" u="none" strike="noStrike" cap="none" spc="0" baseline="0">
          <a:solidFill>
            <a:srgbClr val="000000"/>
          </a:solidFill>
          <a:uFillTx/>
          <a:latin typeface="Calibri" panose="020F0502020204030204"/>
          <a:ea typeface="Calibri" panose="020F0502020204030204"/>
          <a:cs typeface="Calibri" panose="020F0502020204030204"/>
          <a:sym typeface="Calibri" panose="020F0502020204030204"/>
        </a:defRPr>
      </a:lvl8pPr>
      <a:lvl9pPr marL="4615180" marR="0" indent="-1325880" algn="l" defTabSz="914400" rtl="0" eaLnBrk="1" latinLnBrk="0" hangingPunct="1">
        <a:lnSpc>
          <a:spcPct val="100000"/>
        </a:lnSpc>
        <a:spcBef>
          <a:spcPts val="3000"/>
        </a:spcBef>
        <a:spcAft>
          <a:spcPts val="0"/>
        </a:spcAft>
        <a:buClr>
          <a:srgbClr val="000000"/>
        </a:buClr>
        <a:buSzPts val="15100"/>
        <a:buFont typeface="Arial" panose="020B0604020202020204"/>
        <a:buChar char="•"/>
        <a:defRPr sz="15100" b="0" i="0" u="none" strike="noStrike" cap="none" spc="0" baseline="0">
          <a:solidFill>
            <a:srgbClr val="000000"/>
          </a:solidFill>
          <a:uFillTx/>
          <a:latin typeface="Calibri" panose="020F0502020204030204"/>
          <a:ea typeface="Calibri" panose="020F0502020204030204"/>
          <a:cs typeface="Calibri" panose="020F0502020204030204"/>
          <a:sym typeface="Calibri" panose="020F0502020204030204"/>
        </a:defRPr>
      </a:lvl9pPr>
    </p:bodyStyle>
    <p:otherStyle>
      <a:lvl1pPr marL="0" marR="0" indent="0" algn="r" defTabSz="914400" rtl="0" eaLnBrk="1" latinLnBrk="0" hangingPunct="1">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Calibri" panose="020F0502020204030204"/>
        </a:defRPr>
      </a:lvl1pPr>
      <a:lvl2pPr marL="0" marR="0" indent="0" algn="r" defTabSz="914400" rtl="0" eaLnBrk="1" latinLnBrk="0" hangingPunct="1">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Calibri" panose="020F0502020204030204"/>
        </a:defRPr>
      </a:lvl2pPr>
      <a:lvl3pPr marL="0" marR="0" indent="0" algn="r" defTabSz="914400" rtl="0" eaLnBrk="1" latinLnBrk="0" hangingPunct="1">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Calibri" panose="020F0502020204030204"/>
        </a:defRPr>
      </a:lvl3pPr>
      <a:lvl4pPr marL="0" marR="0" indent="0" algn="r" defTabSz="914400" rtl="0" eaLnBrk="1" latinLnBrk="0" hangingPunct="1">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Calibri" panose="020F0502020204030204"/>
        </a:defRPr>
      </a:lvl4pPr>
      <a:lvl5pPr marL="0" marR="0" indent="0" algn="r" defTabSz="914400" rtl="0" eaLnBrk="1" latinLnBrk="0" hangingPunct="1">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Calibri" panose="020F0502020204030204"/>
        </a:defRPr>
      </a:lvl5pPr>
      <a:lvl6pPr marL="0" marR="0" indent="0" algn="r" defTabSz="914400" rtl="0" eaLnBrk="1" latinLnBrk="0" hangingPunct="1">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Calibri" panose="020F0502020204030204"/>
        </a:defRPr>
      </a:lvl6pPr>
      <a:lvl7pPr marL="0" marR="0" indent="0" algn="r" defTabSz="914400" rtl="0" eaLnBrk="1" latinLnBrk="0" hangingPunct="1">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Calibri" panose="020F0502020204030204"/>
        </a:defRPr>
      </a:lvl7pPr>
      <a:lvl8pPr marL="0" marR="0" indent="0" algn="r" defTabSz="914400" rtl="0" eaLnBrk="1" latinLnBrk="0" hangingPunct="1">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Calibri" panose="020F0502020204030204"/>
        </a:defRPr>
      </a:lvl8pPr>
      <a:lvl9pPr marL="0" marR="0" indent="0" algn="r" defTabSz="914400" rtl="0" eaLnBrk="1" latinLnBrk="0" hangingPunct="1">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Calibri" panose="020F0502020204030204"/>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Footer Placeholder 4"/>
          <p:cNvSpPr txBox="1"/>
          <p:nvPr/>
        </p:nvSpPr>
        <p:spPr>
          <a:xfrm>
            <a:off x="1449990" y="4764397"/>
            <a:ext cx="6127428" cy="279634"/>
          </a:xfrm>
          <a:prstGeom prst="rect">
            <a:avLst/>
          </a:prstGeom>
          <a:ln w="12700">
            <a:miter lim="400000"/>
          </a:ln>
        </p:spPr>
        <p:txBody>
          <a:bodyPr wrap="square" lIns="47025" tIns="47025" rIns="47025" bIns="47025" anchor="ctr">
            <a:spAutoFit/>
          </a:bodyPr>
          <a:lstStyle>
            <a:lvl1pPr algn="ctr">
              <a:defRPr sz="1200">
                <a:solidFill>
                  <a:srgbClr val="888888"/>
                </a:solidFill>
                <a:latin typeface="Calibri" panose="020F0502020204030204"/>
                <a:ea typeface="Calibri" panose="020F0502020204030204"/>
                <a:cs typeface="Calibri" panose="020F0502020204030204"/>
                <a:sym typeface="Calibri" panose="020F0502020204030204"/>
              </a:defRPr>
            </a:lvl1pPr>
          </a:lstStyle>
          <a:p>
            <a:r>
              <a:rPr lang="en-US" dirty="0"/>
              <a:t>INDUSTRY ORIENTED MINI </a:t>
            </a:r>
            <a:r>
              <a:rPr dirty="0"/>
              <a:t>PROJECT(202</a:t>
            </a:r>
            <a:r>
              <a:rPr lang="en-IN" dirty="0"/>
              <a:t>6</a:t>
            </a:r>
            <a:r>
              <a:rPr dirty="0"/>
              <a:t>-202</a:t>
            </a:r>
            <a:r>
              <a:rPr lang="en-US" dirty="0"/>
              <a:t>7</a:t>
            </a:r>
            <a:r>
              <a:rPr dirty="0"/>
              <a:t>),</a:t>
            </a:r>
            <a:r>
              <a:rPr lang="en-IN" dirty="0"/>
              <a:t> </a:t>
            </a:r>
            <a:r>
              <a:rPr dirty="0"/>
              <a:t>DEPARTMENT </a:t>
            </a:r>
            <a:r>
              <a:t>OF ECE </a:t>
            </a:r>
            <a:r>
              <a:rPr dirty="0"/>
              <a:t>- Anurag University</a:t>
            </a:r>
          </a:p>
        </p:txBody>
      </p:sp>
      <p:sp>
        <p:nvSpPr>
          <p:cNvPr id="61" name="Google Shape;119;p1"/>
          <p:cNvSpPr txBox="1">
            <a:spLocks noGrp="1"/>
          </p:cNvSpPr>
          <p:nvPr>
            <p:ph type="sldNum" sz="quarter" idx="2"/>
          </p:nvPr>
        </p:nvSpPr>
        <p:spPr>
          <a:xfrm>
            <a:off x="8502807" y="4778756"/>
            <a:ext cx="183992" cy="250916"/>
          </a:xfrm>
          <a:prstGeom prst="rect">
            <a:avLst/>
          </a:prstGeom>
        </p:spPr>
        <p:txBody>
          <a:bodyPr/>
          <a:lstStyle>
            <a:lvl1pPr>
              <a:defRPr>
                <a:solidFill>
                  <a:srgbClr val="000000"/>
                </a:solidFill>
              </a:defRPr>
            </a:lvl1pPr>
          </a:lstStyle>
          <a:p>
            <a:fld id="{86CB4B4D-7CA3-9044-876B-883B54F8677D}" type="slidenum">
              <a:rPr/>
              <a:t>1</a:t>
            </a:fld>
            <a:endParaRPr/>
          </a:p>
        </p:txBody>
      </p:sp>
      <p:sp>
        <p:nvSpPr>
          <p:cNvPr id="62" name="Title 1"/>
          <p:cNvSpPr txBox="1">
            <a:spLocks noGrp="1"/>
          </p:cNvSpPr>
          <p:nvPr>
            <p:ph type="title"/>
          </p:nvPr>
        </p:nvSpPr>
        <p:spPr>
          <a:xfrm>
            <a:off x="1902662" y="598894"/>
            <a:ext cx="5222081" cy="1647774"/>
          </a:xfrm>
          <a:prstGeom prst="rect">
            <a:avLst/>
          </a:prstGeom>
        </p:spPr>
        <p:txBody>
          <a:bodyPr/>
          <a:lstStyle>
            <a:lvl1pPr>
              <a:defRPr sz="2800" b="1">
                <a:latin typeface="Times New Roman" panose="02020603050405020304"/>
                <a:ea typeface="Times New Roman" panose="02020603050405020304"/>
                <a:cs typeface="Times New Roman" panose="02020603050405020304"/>
                <a:sym typeface="Times New Roman" panose="02020603050405020304"/>
              </a:defRPr>
            </a:lvl1pPr>
          </a:lstStyle>
          <a:p>
            <a:r>
              <a:rPr lang="en-US" dirty="0"/>
              <a:t>Accident Prevention System at Blind Curves</a:t>
            </a:r>
          </a:p>
        </p:txBody>
      </p:sp>
      <p:sp>
        <p:nvSpPr>
          <p:cNvPr id="63" name="TextBox 2"/>
          <p:cNvSpPr txBox="1"/>
          <p:nvPr/>
        </p:nvSpPr>
        <p:spPr>
          <a:xfrm>
            <a:off x="582286" y="2960401"/>
            <a:ext cx="4113530" cy="1647774"/>
          </a:xfrm>
          <a:prstGeom prst="rect">
            <a:avLst/>
          </a:prstGeom>
          <a:ln w="12700">
            <a:miter lim="400000"/>
          </a:ln>
        </p:spPr>
        <p:txBody>
          <a:bodyPr lIns="45719" rIns="45719">
            <a:noAutofit/>
          </a:bodyPr>
          <a:lstStyle/>
          <a:p>
            <a:pPr>
              <a:defRPr sz="1600">
                <a:latin typeface="Times New Roman" panose="02020603050405020304"/>
                <a:ea typeface="Times New Roman" panose="02020603050405020304"/>
                <a:cs typeface="Times New Roman" panose="02020603050405020304"/>
                <a:sym typeface="Times New Roman" panose="02020603050405020304"/>
              </a:defRPr>
            </a:pPr>
            <a:r>
              <a:rPr dirty="0">
                <a:latin typeface="Times New Roman" panose="02020603050405020304" pitchFamily="18" charset="0"/>
                <a:cs typeface="Times New Roman" panose="02020603050405020304" pitchFamily="18" charset="0"/>
              </a:rPr>
              <a:t>Presented by:</a:t>
            </a:r>
            <a:endParaRPr lang="en-US" dirty="0">
              <a:latin typeface="Times New Roman" panose="02020603050405020304" pitchFamily="18" charset="0"/>
              <a:cs typeface="Times New Roman" panose="02020603050405020304" pitchFamily="18" charset="0"/>
            </a:endParaRPr>
          </a:p>
          <a:p>
            <a:pPr>
              <a:defRPr sz="1600">
                <a:latin typeface="Times New Roman" panose="02020603050405020304"/>
                <a:ea typeface="Times New Roman" panose="02020603050405020304"/>
                <a:cs typeface="Times New Roman" panose="02020603050405020304"/>
                <a:sym typeface="Times New Roman" panose="02020603050405020304"/>
              </a:defRPr>
            </a:pPr>
            <a:r>
              <a:rPr lang="en-IN" dirty="0">
                <a:latin typeface="Times New Roman" panose="02020603050405020304" pitchFamily="18" charset="0"/>
                <a:cs typeface="Times New Roman" panose="02020603050405020304" pitchFamily="18" charset="0"/>
              </a:rPr>
              <a:t>Avuthu Roopesh Reddy               - 24EG504E01</a:t>
            </a:r>
          </a:p>
        </p:txBody>
      </p:sp>
      <p:sp>
        <p:nvSpPr>
          <p:cNvPr id="64" name="TextBox 7"/>
          <p:cNvSpPr txBox="1"/>
          <p:nvPr/>
        </p:nvSpPr>
        <p:spPr>
          <a:xfrm>
            <a:off x="5705182" y="2960401"/>
            <a:ext cx="2493403" cy="1323439"/>
          </a:xfrm>
          <a:prstGeom prst="rect">
            <a:avLst/>
          </a:prstGeom>
          <a:ln w="12700">
            <a:miter lim="400000"/>
          </a:ln>
        </p:spPr>
        <p:txBody>
          <a:bodyPr lIns="45719" rIns="45719">
            <a:spAutoFit/>
          </a:bodyPr>
          <a:lstStyle/>
          <a:p>
            <a:pPr>
              <a:defRPr sz="1600">
                <a:latin typeface="Times New Roman" panose="02020603050405020304"/>
                <a:ea typeface="Times New Roman" panose="02020603050405020304"/>
                <a:cs typeface="Times New Roman" panose="02020603050405020304"/>
                <a:sym typeface="Times New Roman" panose="02020603050405020304"/>
              </a:defRPr>
            </a:pPr>
            <a:r>
              <a:rPr dirty="0"/>
              <a:t>Under the guidance of: </a:t>
            </a:r>
          </a:p>
          <a:p>
            <a:pPr>
              <a:defRPr sz="1600">
                <a:latin typeface="Times New Roman" panose="02020603050405020304"/>
                <a:ea typeface="Times New Roman" panose="02020603050405020304"/>
                <a:cs typeface="Times New Roman" panose="02020603050405020304"/>
                <a:sym typeface="Times New Roman" panose="02020603050405020304"/>
              </a:defRPr>
            </a:pPr>
            <a:r>
              <a:rPr lang="en-US" dirty="0"/>
              <a:t>Dr. Rajesh Thumma</a:t>
            </a:r>
          </a:p>
          <a:p>
            <a:pPr>
              <a:defRPr sz="1600">
                <a:latin typeface="Times New Roman" panose="02020603050405020304"/>
                <a:ea typeface="Times New Roman" panose="02020603050405020304"/>
                <a:cs typeface="Times New Roman" panose="02020603050405020304"/>
                <a:sym typeface="Times New Roman" panose="02020603050405020304"/>
              </a:defRPr>
            </a:pPr>
            <a:r>
              <a:rPr lang="en-US" dirty="0"/>
              <a:t>Associate Professor, </a:t>
            </a:r>
          </a:p>
          <a:p>
            <a:pPr>
              <a:defRPr sz="1600">
                <a:latin typeface="Times New Roman" panose="02020603050405020304"/>
                <a:ea typeface="Times New Roman" panose="02020603050405020304"/>
                <a:cs typeface="Times New Roman" panose="02020603050405020304"/>
                <a:sym typeface="Times New Roman" panose="02020603050405020304"/>
              </a:defRPr>
            </a:pPr>
            <a:r>
              <a:rPr lang="en-US" dirty="0"/>
              <a:t>Dept. of ECE,</a:t>
            </a:r>
          </a:p>
          <a:p>
            <a:pPr>
              <a:defRPr sz="1600">
                <a:latin typeface="Times New Roman" panose="02020603050405020304"/>
                <a:ea typeface="Times New Roman" panose="02020603050405020304"/>
                <a:cs typeface="Times New Roman" panose="02020603050405020304"/>
                <a:sym typeface="Times New Roman" panose="02020603050405020304"/>
              </a:defRPr>
            </a:pPr>
            <a:r>
              <a:rPr dirty="0"/>
              <a:t>Anurag University</a:t>
            </a:r>
          </a:p>
        </p:txBody>
      </p:sp>
      <p:sp>
        <p:nvSpPr>
          <p:cNvPr id="65" name="TextBox 3"/>
          <p:cNvSpPr txBox="1"/>
          <p:nvPr/>
        </p:nvSpPr>
        <p:spPr>
          <a:xfrm>
            <a:off x="3414365" y="2371695"/>
            <a:ext cx="2198677" cy="400110"/>
          </a:xfrm>
          <a:prstGeom prst="rect">
            <a:avLst/>
          </a:prstGeom>
          <a:ln w="12700">
            <a:miter lim="400000"/>
          </a:ln>
        </p:spPr>
        <p:txBody>
          <a:bodyPr wrap="none" lIns="45719" rIns="45719">
            <a:spAutoFit/>
          </a:bodyPr>
          <a:lstStyle>
            <a:lvl1pPr>
              <a:defRPr sz="2000">
                <a:latin typeface="Times New Roman" panose="02020603050405020304"/>
                <a:ea typeface="Times New Roman" panose="02020603050405020304"/>
                <a:cs typeface="Times New Roman" panose="02020603050405020304"/>
                <a:sym typeface="Times New Roman" panose="02020603050405020304"/>
              </a:defRPr>
            </a:lvl1pPr>
          </a:lstStyle>
          <a:p>
            <a:r>
              <a:rPr dirty="0"/>
              <a:t>Department of ECE</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B0DC0E-7B9F-A5D9-01BD-A78AA30908D7}"/>
            </a:ext>
          </a:extLst>
        </p:cNvPr>
        <p:cNvGrpSpPr/>
        <p:nvPr/>
      </p:nvGrpSpPr>
      <p:grpSpPr>
        <a:xfrm>
          <a:off x="0" y="0"/>
          <a:ext cx="0" cy="0"/>
          <a:chOff x="0" y="0"/>
          <a:chExt cx="0" cy="0"/>
        </a:xfrm>
      </p:grpSpPr>
      <p:sp>
        <p:nvSpPr>
          <p:cNvPr id="68" name="Title 1">
            <a:extLst>
              <a:ext uri="{FF2B5EF4-FFF2-40B4-BE49-F238E27FC236}">
                <a16:creationId xmlns:a16="http://schemas.microsoft.com/office/drawing/2014/main" id="{1A16D514-C719-5361-C11E-8BA68F94E69F}"/>
              </a:ext>
            </a:extLst>
          </p:cNvPr>
          <p:cNvSpPr txBox="1">
            <a:spLocks noGrp="1"/>
          </p:cNvSpPr>
          <p:nvPr>
            <p:ph type="title"/>
          </p:nvPr>
        </p:nvSpPr>
        <p:spPr>
          <a:xfrm>
            <a:off x="171539" y="327380"/>
            <a:ext cx="7989911" cy="716844"/>
          </a:xfrm>
          <a:prstGeom prst="rect">
            <a:avLst/>
          </a:prstGeom>
        </p:spPr>
        <p:txBody>
          <a:bodyPr/>
          <a:lstStyle>
            <a:lvl1pPr>
              <a:defRPr sz="2800" b="1">
                <a:latin typeface="Times New Roman" panose="02020603050405020304"/>
                <a:ea typeface="Times New Roman" panose="02020603050405020304"/>
                <a:cs typeface="Times New Roman" panose="02020603050405020304"/>
                <a:sym typeface="Times New Roman" panose="02020603050405020304"/>
              </a:defRPr>
            </a:lvl1pPr>
          </a:lstStyle>
          <a:p>
            <a:r>
              <a:rPr lang="en-US" dirty="0"/>
              <a:t>C</a:t>
            </a:r>
            <a:r>
              <a:rPr lang="en-IN" dirty="0"/>
              <a:t>ontents</a:t>
            </a:r>
            <a:endParaRPr lang="en-US" dirty="0"/>
          </a:p>
        </p:txBody>
      </p:sp>
      <p:sp>
        <p:nvSpPr>
          <p:cNvPr id="70" name="Google Shape;119;p1">
            <a:extLst>
              <a:ext uri="{FF2B5EF4-FFF2-40B4-BE49-F238E27FC236}">
                <a16:creationId xmlns:a16="http://schemas.microsoft.com/office/drawing/2014/main" id="{1F72A820-8104-EC35-05B6-F4B1C6CD2982}"/>
              </a:ext>
            </a:extLst>
          </p:cNvPr>
          <p:cNvSpPr txBox="1">
            <a:spLocks noGrp="1"/>
          </p:cNvSpPr>
          <p:nvPr>
            <p:ph type="sldNum" sz="quarter" idx="2"/>
          </p:nvPr>
        </p:nvSpPr>
        <p:spPr>
          <a:xfrm>
            <a:off x="8502807" y="4787809"/>
            <a:ext cx="183992" cy="250916"/>
          </a:xfrm>
          <a:prstGeom prst="rect">
            <a:avLst/>
          </a:prstGeom>
        </p:spPr>
        <p:txBody>
          <a:bodyPr/>
          <a:lstStyle>
            <a:lvl1pPr>
              <a:defRPr>
                <a:solidFill>
                  <a:srgbClr val="000000"/>
                </a:solidFill>
              </a:defRPr>
            </a:lvl1pPr>
          </a:lstStyle>
          <a:p>
            <a:fld id="{86CB4B4D-7CA3-9044-876B-883B54F8677D}" type="slidenum">
              <a:rPr/>
              <a:t>2</a:t>
            </a:fld>
            <a:endParaRPr/>
          </a:p>
        </p:txBody>
      </p:sp>
      <p:sp>
        <p:nvSpPr>
          <p:cNvPr id="2" name="TextBox 1">
            <a:extLst>
              <a:ext uri="{FF2B5EF4-FFF2-40B4-BE49-F238E27FC236}">
                <a16:creationId xmlns:a16="http://schemas.microsoft.com/office/drawing/2014/main" id="{EBF27CCC-67F3-DCE4-597D-90A49D438692}"/>
              </a:ext>
            </a:extLst>
          </p:cNvPr>
          <p:cNvSpPr txBox="1"/>
          <p:nvPr/>
        </p:nvSpPr>
        <p:spPr>
          <a:xfrm>
            <a:off x="982550" y="925146"/>
            <a:ext cx="6887850" cy="3539428"/>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45719" tIns="45719" rIns="45719" bIns="45719" numCol="1" spcCol="38100" rtlCol="0" anchor="t">
            <a:spAutoFit/>
          </a:bodyPr>
          <a:lstStyle/>
          <a:p>
            <a:pPr algn="just"/>
            <a:endParaRPr lang="en-US" sz="1600" b="1"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Abstract</a:t>
            </a:r>
          </a:p>
          <a:p>
            <a:pPr marL="285750" indent="-285750" algn="just">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Introduction</a:t>
            </a:r>
          </a:p>
          <a:p>
            <a:pPr marL="285750" indent="-285750" algn="just">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Problem Statement</a:t>
            </a:r>
          </a:p>
          <a:p>
            <a:pPr marL="285750" indent="-285750" algn="just">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Motivation</a:t>
            </a:r>
          </a:p>
          <a:p>
            <a:pPr marL="285750" indent="-285750" algn="just">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Study of Existing Methods</a:t>
            </a:r>
          </a:p>
          <a:p>
            <a:pPr marL="285750" indent="-285750" algn="just">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Existing Methodology</a:t>
            </a:r>
          </a:p>
          <a:p>
            <a:pPr marL="285750" indent="-285750" algn="just">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Objectives of the Project</a:t>
            </a:r>
          </a:p>
          <a:p>
            <a:pPr marL="285750" indent="-285750" algn="just">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Methodology of Proposed Work</a:t>
            </a:r>
          </a:p>
          <a:p>
            <a:pPr marL="285750" indent="-285750" algn="just">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Tools / Dataset</a:t>
            </a:r>
          </a:p>
          <a:p>
            <a:pPr marL="285750" indent="-285750" algn="just">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Block Diagram</a:t>
            </a:r>
          </a:p>
          <a:p>
            <a:pPr marL="285750" indent="-285750" algn="just">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Flow Diagram</a:t>
            </a:r>
          </a:p>
          <a:p>
            <a:pPr marL="285750" indent="-285750" algn="just">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References</a:t>
            </a:r>
          </a:p>
          <a:p>
            <a:pPr marL="285750" indent="-285750" algn="just">
              <a:buFont typeface="Arial" panose="020B0604020202020204" pitchFamily="34" charset="0"/>
              <a:buChar char="•"/>
            </a:pPr>
            <a:endParaRPr lang="en-US" sz="1600" b="1" dirty="0">
              <a:latin typeface="Times New Roman" panose="02020603050405020304" pitchFamily="18" charset="0"/>
              <a:cs typeface="Times New Roman" panose="02020603050405020304" pitchFamily="18" charset="0"/>
            </a:endParaRPr>
          </a:p>
        </p:txBody>
      </p:sp>
      <p:sp>
        <p:nvSpPr>
          <p:cNvPr id="3" name="Footer Placeholder 4">
            <a:extLst>
              <a:ext uri="{FF2B5EF4-FFF2-40B4-BE49-F238E27FC236}">
                <a16:creationId xmlns:a16="http://schemas.microsoft.com/office/drawing/2014/main" id="{987EBCCE-1FB2-93E6-7694-692E5932A4A2}"/>
              </a:ext>
            </a:extLst>
          </p:cNvPr>
          <p:cNvSpPr txBox="1"/>
          <p:nvPr/>
        </p:nvSpPr>
        <p:spPr>
          <a:xfrm>
            <a:off x="1449990" y="4764397"/>
            <a:ext cx="6127428" cy="279634"/>
          </a:xfrm>
          <a:prstGeom prst="rect">
            <a:avLst/>
          </a:prstGeom>
          <a:ln w="12700">
            <a:miter lim="400000"/>
          </a:ln>
        </p:spPr>
        <p:txBody>
          <a:bodyPr wrap="square" lIns="47025" tIns="47025" rIns="47025" bIns="47025" anchor="ctr">
            <a:spAutoFit/>
          </a:bodyPr>
          <a:lstStyle>
            <a:lvl1pPr algn="ctr">
              <a:defRPr sz="1200">
                <a:solidFill>
                  <a:srgbClr val="888888"/>
                </a:solidFill>
                <a:latin typeface="Calibri" panose="020F0502020204030204"/>
                <a:ea typeface="Calibri" panose="020F0502020204030204"/>
                <a:cs typeface="Calibri" panose="020F0502020204030204"/>
                <a:sym typeface="Calibri" panose="020F0502020204030204"/>
              </a:defRPr>
            </a:lvl1pPr>
          </a:lstStyle>
          <a:p>
            <a:r>
              <a:rPr lang="en-US" dirty="0"/>
              <a:t>INDUSTRY ORIENTED MINI </a:t>
            </a:r>
            <a:r>
              <a:rPr dirty="0"/>
              <a:t>PROJECT(202</a:t>
            </a:r>
            <a:r>
              <a:rPr lang="en-IN" dirty="0"/>
              <a:t>6</a:t>
            </a:r>
            <a:r>
              <a:rPr dirty="0"/>
              <a:t>-202</a:t>
            </a:r>
            <a:r>
              <a:rPr lang="en-US" dirty="0"/>
              <a:t>7</a:t>
            </a:r>
            <a:r>
              <a:rPr dirty="0"/>
              <a:t>),</a:t>
            </a:r>
            <a:r>
              <a:rPr lang="en-IN" dirty="0"/>
              <a:t> </a:t>
            </a:r>
            <a:r>
              <a:rPr dirty="0"/>
              <a:t>DEPARTMENT OF ECE</a:t>
            </a:r>
            <a:r>
              <a:rPr lang="en-IN" dirty="0"/>
              <a:t>/ECM</a:t>
            </a:r>
            <a:r>
              <a:rPr dirty="0"/>
              <a:t> - Anurag University</a:t>
            </a:r>
          </a:p>
        </p:txBody>
      </p:sp>
    </p:spTree>
    <p:extLst>
      <p:ext uri="{BB962C8B-B14F-4D97-AF65-F5344CB8AC3E}">
        <p14:creationId xmlns:p14="http://schemas.microsoft.com/office/powerpoint/2010/main" val="735261463"/>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80B891-1AA3-5C9C-294D-27A547649E6E}"/>
            </a:ext>
          </a:extLst>
        </p:cNvPr>
        <p:cNvGrpSpPr/>
        <p:nvPr/>
      </p:nvGrpSpPr>
      <p:grpSpPr>
        <a:xfrm>
          <a:off x="0" y="0"/>
          <a:ext cx="0" cy="0"/>
          <a:chOff x="0" y="0"/>
          <a:chExt cx="0" cy="0"/>
        </a:xfrm>
      </p:grpSpPr>
      <p:sp>
        <p:nvSpPr>
          <p:cNvPr id="68" name="Title 1">
            <a:extLst>
              <a:ext uri="{FF2B5EF4-FFF2-40B4-BE49-F238E27FC236}">
                <a16:creationId xmlns:a16="http://schemas.microsoft.com/office/drawing/2014/main" id="{078AC8BD-2944-1F4F-2623-2041A7EFE3D1}"/>
              </a:ext>
            </a:extLst>
          </p:cNvPr>
          <p:cNvSpPr txBox="1">
            <a:spLocks noGrp="1"/>
          </p:cNvSpPr>
          <p:nvPr>
            <p:ph type="title"/>
          </p:nvPr>
        </p:nvSpPr>
        <p:spPr>
          <a:xfrm>
            <a:off x="171539" y="327380"/>
            <a:ext cx="7989911" cy="716844"/>
          </a:xfrm>
          <a:prstGeom prst="rect">
            <a:avLst/>
          </a:prstGeom>
        </p:spPr>
        <p:txBody>
          <a:bodyPr/>
          <a:lstStyle>
            <a:lvl1pPr>
              <a:defRPr sz="2800" b="1">
                <a:latin typeface="Times New Roman" panose="02020603050405020304"/>
                <a:ea typeface="Times New Roman" panose="02020603050405020304"/>
                <a:cs typeface="Times New Roman" panose="02020603050405020304"/>
                <a:sym typeface="Times New Roman" panose="02020603050405020304"/>
              </a:defRPr>
            </a:lvl1pPr>
          </a:lstStyle>
          <a:p>
            <a:r>
              <a:rPr lang="en-US" dirty="0">
                <a:latin typeface="Times New Roman" panose="02020603050405020304" pitchFamily="18" charset="0"/>
                <a:cs typeface="Times New Roman" panose="02020603050405020304" pitchFamily="18" charset="0"/>
              </a:rPr>
              <a:t>Abstract</a:t>
            </a:r>
          </a:p>
        </p:txBody>
      </p:sp>
      <p:sp>
        <p:nvSpPr>
          <p:cNvPr id="70" name="Google Shape;119;p1">
            <a:extLst>
              <a:ext uri="{FF2B5EF4-FFF2-40B4-BE49-F238E27FC236}">
                <a16:creationId xmlns:a16="http://schemas.microsoft.com/office/drawing/2014/main" id="{A9DC02D6-5494-B75F-FF0F-F0699768D14B}"/>
              </a:ext>
            </a:extLst>
          </p:cNvPr>
          <p:cNvSpPr txBox="1">
            <a:spLocks noGrp="1"/>
          </p:cNvSpPr>
          <p:nvPr>
            <p:ph type="sldNum" sz="quarter" idx="2"/>
          </p:nvPr>
        </p:nvSpPr>
        <p:spPr>
          <a:xfrm>
            <a:off x="8502807" y="4787809"/>
            <a:ext cx="183992" cy="250916"/>
          </a:xfrm>
          <a:prstGeom prst="rect">
            <a:avLst/>
          </a:prstGeom>
        </p:spPr>
        <p:txBody>
          <a:bodyPr/>
          <a:lstStyle>
            <a:lvl1pPr>
              <a:defRPr>
                <a:solidFill>
                  <a:srgbClr val="000000"/>
                </a:solidFill>
              </a:defRPr>
            </a:lvl1pPr>
          </a:lstStyle>
          <a:p>
            <a:fld id="{86CB4B4D-7CA3-9044-876B-883B54F8677D}" type="slidenum">
              <a:rPr/>
              <a:t>3</a:t>
            </a:fld>
            <a:endParaRPr/>
          </a:p>
        </p:txBody>
      </p:sp>
      <p:sp>
        <p:nvSpPr>
          <p:cNvPr id="3" name="Footer Placeholder 4">
            <a:extLst>
              <a:ext uri="{FF2B5EF4-FFF2-40B4-BE49-F238E27FC236}">
                <a16:creationId xmlns:a16="http://schemas.microsoft.com/office/drawing/2014/main" id="{52CC2D3E-AEC6-65EF-8C03-DD308FF37775}"/>
              </a:ext>
            </a:extLst>
          </p:cNvPr>
          <p:cNvSpPr txBox="1"/>
          <p:nvPr/>
        </p:nvSpPr>
        <p:spPr>
          <a:xfrm>
            <a:off x="1449990" y="4764397"/>
            <a:ext cx="6127428" cy="279634"/>
          </a:xfrm>
          <a:prstGeom prst="rect">
            <a:avLst/>
          </a:prstGeom>
          <a:ln w="12700">
            <a:miter lim="400000"/>
          </a:ln>
        </p:spPr>
        <p:txBody>
          <a:bodyPr wrap="square" lIns="47025" tIns="47025" rIns="47025" bIns="47025" anchor="ctr">
            <a:spAutoFit/>
          </a:bodyPr>
          <a:lstStyle>
            <a:lvl1pPr algn="ctr">
              <a:defRPr sz="1200">
                <a:solidFill>
                  <a:srgbClr val="888888"/>
                </a:solidFill>
                <a:latin typeface="Calibri" panose="020F0502020204030204"/>
                <a:ea typeface="Calibri" panose="020F0502020204030204"/>
                <a:cs typeface="Calibri" panose="020F0502020204030204"/>
                <a:sym typeface="Calibri" panose="020F0502020204030204"/>
              </a:defRPr>
            </a:lvl1pPr>
          </a:lstStyle>
          <a:p>
            <a:r>
              <a:rPr lang="en-US" dirty="0"/>
              <a:t>INDUSTRY ORIENTED MINI </a:t>
            </a:r>
            <a:r>
              <a:rPr dirty="0"/>
              <a:t>PROJECT(202</a:t>
            </a:r>
            <a:r>
              <a:rPr lang="en-IN" dirty="0"/>
              <a:t>6</a:t>
            </a:r>
            <a:r>
              <a:rPr dirty="0"/>
              <a:t>-202</a:t>
            </a:r>
            <a:r>
              <a:rPr lang="en-US" dirty="0"/>
              <a:t>7</a:t>
            </a:r>
            <a:r>
              <a:rPr dirty="0"/>
              <a:t>),</a:t>
            </a:r>
            <a:r>
              <a:rPr lang="en-IN" dirty="0"/>
              <a:t> </a:t>
            </a:r>
            <a:r>
              <a:rPr dirty="0"/>
              <a:t>DEPARTMENT OF ECE</a:t>
            </a:r>
            <a:r>
              <a:rPr lang="en-IN" dirty="0"/>
              <a:t> /ECM</a:t>
            </a:r>
            <a:r>
              <a:rPr dirty="0"/>
              <a:t> - Anurag University</a:t>
            </a:r>
          </a:p>
        </p:txBody>
      </p:sp>
      <p:sp>
        <p:nvSpPr>
          <p:cNvPr id="4" name="TextBox 3">
            <a:extLst>
              <a:ext uri="{FF2B5EF4-FFF2-40B4-BE49-F238E27FC236}">
                <a16:creationId xmlns:a16="http://schemas.microsoft.com/office/drawing/2014/main" id="{82DA8954-C04A-7F69-6A13-DD7BB94FBDAE}"/>
              </a:ext>
            </a:extLst>
          </p:cNvPr>
          <p:cNvSpPr txBox="1"/>
          <p:nvPr/>
        </p:nvSpPr>
        <p:spPr>
          <a:xfrm>
            <a:off x="1107508" y="1044224"/>
            <a:ext cx="7053942" cy="332398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45719" tIns="45719" rIns="45719" bIns="45719" numCol="1" spcCol="38100" rtlCol="0" anchor="t">
            <a:spAutoFit/>
          </a:bodyPr>
          <a:lstStyle/>
          <a:p>
            <a:pPr algn="just"/>
            <a:r>
              <a:rPr lang="en-US" dirty="0">
                <a:latin typeface="Times New Roman" panose="02020603050405020304" pitchFamily="18" charset="0"/>
                <a:cs typeface="Times New Roman" panose="02020603050405020304" pitchFamily="18" charset="0"/>
              </a:rPr>
              <a:t>Blind curves in hilly and mountainous regions are major accident-prone areas due to limited visibility and the inability of drivers to detect approaching vehicles from the opposite direction. Conventional safety measures such as warning signboards, convex mirrors, and speed breakers provide only passive assistance and are often ineffective during adverse weather conditions. </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This project presents a low-cost </a:t>
            </a:r>
            <a:r>
              <a:rPr lang="en-US" b="1" dirty="0">
                <a:latin typeface="Times New Roman" panose="02020603050405020304" pitchFamily="18" charset="0"/>
                <a:cs typeface="Times New Roman" panose="02020603050405020304" pitchFamily="18" charset="0"/>
              </a:rPr>
              <a:t>Accident Prevention System at Blind Curves</a:t>
            </a:r>
            <a:r>
              <a:rPr lang="en-US" dirty="0">
                <a:latin typeface="Times New Roman" panose="02020603050405020304" pitchFamily="18" charset="0"/>
                <a:cs typeface="Times New Roman" panose="02020603050405020304" pitchFamily="18" charset="0"/>
              </a:rPr>
              <a:t> that detects approaching vehicles on both sides of the curve using ultrasonic sensors and exchanges the information wirelessly through LoRa communication.</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 The system measures vehicle speed, estimates the time required to reach the curve, and classifies vehicles as light or heavy based on height. Using this information, the controller applies priority-based traffic management to determine which vehicle should proceed first and provides real-time alerts through LEDs, a buzzer, and an LCD display. The proposed system enhances driver awareness, reduces the possibility of head-on collisions, and offers a reliable, economical, and scalable solution for improving road safety in hilly and mountainous regions.</a:t>
            </a:r>
          </a:p>
        </p:txBody>
      </p:sp>
    </p:spTree>
    <p:extLst>
      <p:ext uri="{BB962C8B-B14F-4D97-AF65-F5344CB8AC3E}">
        <p14:creationId xmlns:p14="http://schemas.microsoft.com/office/powerpoint/2010/main" val="2409961442"/>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4429EF-175F-3A00-1EA6-CBD8269F2782}"/>
            </a:ext>
          </a:extLst>
        </p:cNvPr>
        <p:cNvGrpSpPr/>
        <p:nvPr/>
      </p:nvGrpSpPr>
      <p:grpSpPr>
        <a:xfrm>
          <a:off x="0" y="0"/>
          <a:ext cx="0" cy="0"/>
          <a:chOff x="0" y="0"/>
          <a:chExt cx="0" cy="0"/>
        </a:xfrm>
      </p:grpSpPr>
      <p:sp>
        <p:nvSpPr>
          <p:cNvPr id="68" name="Title 1">
            <a:extLst>
              <a:ext uri="{FF2B5EF4-FFF2-40B4-BE49-F238E27FC236}">
                <a16:creationId xmlns:a16="http://schemas.microsoft.com/office/drawing/2014/main" id="{9C2F2FB5-9567-91C3-0C47-4996A5BDB2DB}"/>
              </a:ext>
            </a:extLst>
          </p:cNvPr>
          <p:cNvSpPr txBox="1">
            <a:spLocks noGrp="1"/>
          </p:cNvSpPr>
          <p:nvPr>
            <p:ph type="title"/>
          </p:nvPr>
        </p:nvSpPr>
        <p:spPr>
          <a:xfrm>
            <a:off x="171539" y="327380"/>
            <a:ext cx="7989911" cy="716844"/>
          </a:xfrm>
          <a:prstGeom prst="rect">
            <a:avLst/>
          </a:prstGeom>
        </p:spPr>
        <p:txBody>
          <a:bodyPr/>
          <a:lstStyle>
            <a:lvl1pPr>
              <a:defRPr sz="2800" b="1">
                <a:latin typeface="Times New Roman" panose="02020603050405020304"/>
                <a:ea typeface="Times New Roman" panose="02020603050405020304"/>
                <a:cs typeface="Times New Roman" panose="02020603050405020304"/>
                <a:sym typeface="Times New Roman" panose="02020603050405020304"/>
              </a:defRPr>
            </a:lvl1pPr>
          </a:lstStyle>
          <a:p>
            <a:r>
              <a:rPr lang="en-US" dirty="0">
                <a:latin typeface="Times New Roman" panose="02020603050405020304" pitchFamily="18" charset="0"/>
                <a:cs typeface="Times New Roman" panose="02020603050405020304" pitchFamily="18" charset="0"/>
              </a:rPr>
              <a:t>Introduction</a:t>
            </a:r>
          </a:p>
        </p:txBody>
      </p:sp>
      <p:sp>
        <p:nvSpPr>
          <p:cNvPr id="70" name="Google Shape;119;p1">
            <a:extLst>
              <a:ext uri="{FF2B5EF4-FFF2-40B4-BE49-F238E27FC236}">
                <a16:creationId xmlns:a16="http://schemas.microsoft.com/office/drawing/2014/main" id="{59ADD087-348B-D42B-72B6-411E956CA8DA}"/>
              </a:ext>
            </a:extLst>
          </p:cNvPr>
          <p:cNvSpPr txBox="1">
            <a:spLocks noGrp="1"/>
          </p:cNvSpPr>
          <p:nvPr>
            <p:ph type="sldNum" sz="quarter" idx="2"/>
          </p:nvPr>
        </p:nvSpPr>
        <p:spPr>
          <a:xfrm>
            <a:off x="8502807" y="4787809"/>
            <a:ext cx="183992" cy="250916"/>
          </a:xfrm>
          <a:prstGeom prst="rect">
            <a:avLst/>
          </a:prstGeom>
        </p:spPr>
        <p:txBody>
          <a:bodyPr/>
          <a:lstStyle>
            <a:lvl1pPr>
              <a:defRPr>
                <a:solidFill>
                  <a:srgbClr val="000000"/>
                </a:solidFill>
              </a:defRPr>
            </a:lvl1pPr>
          </a:lstStyle>
          <a:p>
            <a:fld id="{86CB4B4D-7CA3-9044-876B-883B54F8677D}" type="slidenum">
              <a:rPr/>
              <a:t>4</a:t>
            </a:fld>
            <a:endParaRPr/>
          </a:p>
        </p:txBody>
      </p:sp>
      <p:sp>
        <p:nvSpPr>
          <p:cNvPr id="3" name="Footer Placeholder 4">
            <a:extLst>
              <a:ext uri="{FF2B5EF4-FFF2-40B4-BE49-F238E27FC236}">
                <a16:creationId xmlns:a16="http://schemas.microsoft.com/office/drawing/2014/main" id="{80AC76A2-7C0E-DBF4-C29C-8E18B97EFC93}"/>
              </a:ext>
            </a:extLst>
          </p:cNvPr>
          <p:cNvSpPr txBox="1"/>
          <p:nvPr/>
        </p:nvSpPr>
        <p:spPr>
          <a:xfrm>
            <a:off x="1449990" y="4764397"/>
            <a:ext cx="6127428" cy="279634"/>
          </a:xfrm>
          <a:prstGeom prst="rect">
            <a:avLst/>
          </a:prstGeom>
          <a:ln w="12700">
            <a:miter lim="400000"/>
          </a:ln>
        </p:spPr>
        <p:txBody>
          <a:bodyPr wrap="square" lIns="47025" tIns="47025" rIns="47025" bIns="47025" anchor="ctr">
            <a:spAutoFit/>
          </a:bodyPr>
          <a:lstStyle>
            <a:lvl1pPr algn="ctr">
              <a:defRPr sz="1200">
                <a:solidFill>
                  <a:srgbClr val="888888"/>
                </a:solidFill>
                <a:latin typeface="Calibri" panose="020F0502020204030204"/>
                <a:ea typeface="Calibri" panose="020F0502020204030204"/>
                <a:cs typeface="Calibri" panose="020F0502020204030204"/>
                <a:sym typeface="Calibri" panose="020F0502020204030204"/>
              </a:defRPr>
            </a:lvl1pPr>
          </a:lstStyle>
          <a:p>
            <a:r>
              <a:rPr lang="en-US" dirty="0"/>
              <a:t>INDUSTRY ORIENTED MINI </a:t>
            </a:r>
            <a:r>
              <a:rPr dirty="0"/>
              <a:t>PROJECT(202</a:t>
            </a:r>
            <a:r>
              <a:rPr lang="en-IN" dirty="0"/>
              <a:t>6</a:t>
            </a:r>
            <a:r>
              <a:rPr dirty="0"/>
              <a:t>-202</a:t>
            </a:r>
            <a:r>
              <a:rPr lang="en-US" dirty="0"/>
              <a:t>7</a:t>
            </a:r>
            <a:r>
              <a:rPr dirty="0"/>
              <a:t>),</a:t>
            </a:r>
            <a:r>
              <a:rPr lang="en-IN" dirty="0"/>
              <a:t> </a:t>
            </a:r>
            <a:r>
              <a:rPr dirty="0"/>
              <a:t>DEPARTMENT OF ECE</a:t>
            </a:r>
            <a:r>
              <a:rPr lang="en-IN" dirty="0"/>
              <a:t> /ECM</a:t>
            </a:r>
            <a:r>
              <a:rPr dirty="0"/>
              <a:t> - Anurag University</a:t>
            </a:r>
          </a:p>
        </p:txBody>
      </p:sp>
      <p:sp>
        <p:nvSpPr>
          <p:cNvPr id="4" name="TextBox 3">
            <a:extLst>
              <a:ext uri="{FF2B5EF4-FFF2-40B4-BE49-F238E27FC236}">
                <a16:creationId xmlns:a16="http://schemas.microsoft.com/office/drawing/2014/main" id="{E9A4F7BF-CF16-CD01-342B-6C333F756ADC}"/>
              </a:ext>
            </a:extLst>
          </p:cNvPr>
          <p:cNvSpPr txBox="1"/>
          <p:nvPr/>
        </p:nvSpPr>
        <p:spPr>
          <a:xfrm>
            <a:off x="1107508" y="1402201"/>
            <a:ext cx="7053942" cy="2246767"/>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45719" tIns="45719" rIns="45719" bIns="45719" numCol="1" spcCol="38100" rtlCol="0" anchor="t">
            <a:spAutoFit/>
          </a:bodyPr>
          <a:lstStyle/>
          <a:p>
            <a:pPr algn="just"/>
            <a:r>
              <a:rPr lang="en-US" dirty="0">
                <a:latin typeface="Times New Roman" panose="02020603050405020304" pitchFamily="18" charset="0"/>
                <a:cs typeface="Times New Roman" panose="02020603050405020304" pitchFamily="18" charset="0"/>
              </a:rPr>
              <a:t>Road safety is a major concern in hilly and mountainous regions where blind curves restrict the visibility of approaching vehicles. Drivers navigating such curves often face difficulty in predicting oncoming traffic, leading to accidents, especially when large vehicles are involved. Existing safety measures such as mirrors, signboards, and speed breakers are passive and rely heavily on driver awareness.</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With advancements in embedded systems and wireless communication, it is possible to design intelligent systems that provide real-time alerts and predictive information to drivers. This project focuses on developing a smart accident prevention system that not only detects vehicles but also analyzes their speed, direction, and estimated arrival time to prevent collisions proactively.</a:t>
            </a:r>
          </a:p>
        </p:txBody>
      </p:sp>
    </p:spTree>
    <p:extLst>
      <p:ext uri="{BB962C8B-B14F-4D97-AF65-F5344CB8AC3E}">
        <p14:creationId xmlns:p14="http://schemas.microsoft.com/office/powerpoint/2010/main" val="1769373196"/>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9C8A67-5E12-68D3-8EC6-F502CB89F067}"/>
            </a:ext>
          </a:extLst>
        </p:cNvPr>
        <p:cNvGrpSpPr/>
        <p:nvPr/>
      </p:nvGrpSpPr>
      <p:grpSpPr>
        <a:xfrm>
          <a:off x="0" y="0"/>
          <a:ext cx="0" cy="0"/>
          <a:chOff x="0" y="0"/>
          <a:chExt cx="0" cy="0"/>
        </a:xfrm>
      </p:grpSpPr>
      <p:sp>
        <p:nvSpPr>
          <p:cNvPr id="68" name="Title 1">
            <a:extLst>
              <a:ext uri="{FF2B5EF4-FFF2-40B4-BE49-F238E27FC236}">
                <a16:creationId xmlns:a16="http://schemas.microsoft.com/office/drawing/2014/main" id="{EFF05BFC-21B7-1C03-FE19-C5F2BB9591EC}"/>
              </a:ext>
            </a:extLst>
          </p:cNvPr>
          <p:cNvSpPr txBox="1">
            <a:spLocks noGrp="1"/>
          </p:cNvSpPr>
          <p:nvPr>
            <p:ph type="title"/>
          </p:nvPr>
        </p:nvSpPr>
        <p:spPr>
          <a:xfrm>
            <a:off x="171539" y="327380"/>
            <a:ext cx="7989911" cy="716844"/>
          </a:xfrm>
          <a:prstGeom prst="rect">
            <a:avLst/>
          </a:prstGeom>
        </p:spPr>
        <p:txBody>
          <a:bodyPr/>
          <a:lstStyle>
            <a:lvl1pPr>
              <a:defRPr sz="2800" b="1">
                <a:latin typeface="Times New Roman" panose="02020603050405020304"/>
                <a:ea typeface="Times New Roman" panose="02020603050405020304"/>
                <a:cs typeface="Times New Roman" panose="02020603050405020304"/>
                <a:sym typeface="Times New Roman" panose="02020603050405020304"/>
              </a:defRPr>
            </a:lvl1pPr>
          </a:lstStyle>
          <a:p>
            <a:r>
              <a:rPr lang="en-US" dirty="0">
                <a:latin typeface="Times New Roman" panose="02020603050405020304" pitchFamily="18" charset="0"/>
                <a:cs typeface="Times New Roman" panose="02020603050405020304" pitchFamily="18" charset="0"/>
              </a:rPr>
              <a:t>Problem Statement</a:t>
            </a:r>
          </a:p>
        </p:txBody>
      </p:sp>
      <p:sp>
        <p:nvSpPr>
          <p:cNvPr id="70" name="Google Shape;119;p1">
            <a:extLst>
              <a:ext uri="{FF2B5EF4-FFF2-40B4-BE49-F238E27FC236}">
                <a16:creationId xmlns:a16="http://schemas.microsoft.com/office/drawing/2014/main" id="{274854ED-9801-8275-EE12-1A62C14F91D0}"/>
              </a:ext>
            </a:extLst>
          </p:cNvPr>
          <p:cNvSpPr txBox="1">
            <a:spLocks noGrp="1"/>
          </p:cNvSpPr>
          <p:nvPr>
            <p:ph type="sldNum" sz="quarter" idx="2"/>
          </p:nvPr>
        </p:nvSpPr>
        <p:spPr>
          <a:xfrm>
            <a:off x="8502807" y="4787809"/>
            <a:ext cx="183992" cy="250916"/>
          </a:xfrm>
          <a:prstGeom prst="rect">
            <a:avLst/>
          </a:prstGeom>
        </p:spPr>
        <p:txBody>
          <a:bodyPr/>
          <a:lstStyle>
            <a:lvl1pPr>
              <a:defRPr>
                <a:solidFill>
                  <a:srgbClr val="000000"/>
                </a:solidFill>
              </a:defRPr>
            </a:lvl1pPr>
          </a:lstStyle>
          <a:p>
            <a:fld id="{86CB4B4D-7CA3-9044-876B-883B54F8677D}" type="slidenum">
              <a:rPr/>
              <a:t>5</a:t>
            </a:fld>
            <a:endParaRPr/>
          </a:p>
        </p:txBody>
      </p:sp>
      <p:sp>
        <p:nvSpPr>
          <p:cNvPr id="3" name="Footer Placeholder 4">
            <a:extLst>
              <a:ext uri="{FF2B5EF4-FFF2-40B4-BE49-F238E27FC236}">
                <a16:creationId xmlns:a16="http://schemas.microsoft.com/office/drawing/2014/main" id="{7D27F7F6-55E3-2C7D-64AF-6AEB598B2A34}"/>
              </a:ext>
            </a:extLst>
          </p:cNvPr>
          <p:cNvSpPr txBox="1"/>
          <p:nvPr/>
        </p:nvSpPr>
        <p:spPr>
          <a:xfrm>
            <a:off x="1449990" y="4764397"/>
            <a:ext cx="6127428" cy="279634"/>
          </a:xfrm>
          <a:prstGeom prst="rect">
            <a:avLst/>
          </a:prstGeom>
          <a:ln w="12700">
            <a:miter lim="400000"/>
          </a:ln>
        </p:spPr>
        <p:txBody>
          <a:bodyPr wrap="square" lIns="47025" tIns="47025" rIns="47025" bIns="47025" anchor="ctr">
            <a:spAutoFit/>
          </a:bodyPr>
          <a:lstStyle>
            <a:lvl1pPr algn="ctr">
              <a:defRPr sz="1200">
                <a:solidFill>
                  <a:srgbClr val="888888"/>
                </a:solidFill>
                <a:latin typeface="Calibri" panose="020F0502020204030204"/>
                <a:ea typeface="Calibri" panose="020F0502020204030204"/>
                <a:cs typeface="Calibri" panose="020F0502020204030204"/>
                <a:sym typeface="Calibri" panose="020F0502020204030204"/>
              </a:defRPr>
            </a:lvl1pPr>
          </a:lstStyle>
          <a:p>
            <a:r>
              <a:rPr lang="en-US" dirty="0"/>
              <a:t>INDUSTRY ORIENTED MINI </a:t>
            </a:r>
            <a:r>
              <a:rPr dirty="0"/>
              <a:t>PROJECT(202</a:t>
            </a:r>
            <a:r>
              <a:rPr lang="en-IN" dirty="0"/>
              <a:t>6</a:t>
            </a:r>
            <a:r>
              <a:rPr dirty="0"/>
              <a:t>-202</a:t>
            </a:r>
            <a:r>
              <a:rPr lang="en-US" dirty="0"/>
              <a:t>7</a:t>
            </a:r>
            <a:r>
              <a:rPr dirty="0"/>
              <a:t>),</a:t>
            </a:r>
            <a:r>
              <a:rPr lang="en-IN" dirty="0"/>
              <a:t> </a:t>
            </a:r>
            <a:r>
              <a:rPr dirty="0"/>
              <a:t>DEPARTMENT OF ECE</a:t>
            </a:r>
            <a:r>
              <a:rPr lang="en-IN" dirty="0"/>
              <a:t> /ECM</a:t>
            </a:r>
            <a:r>
              <a:rPr dirty="0"/>
              <a:t> - Anurag University</a:t>
            </a:r>
          </a:p>
        </p:txBody>
      </p:sp>
      <p:sp>
        <p:nvSpPr>
          <p:cNvPr id="4" name="TextBox 3">
            <a:extLst>
              <a:ext uri="{FF2B5EF4-FFF2-40B4-BE49-F238E27FC236}">
                <a16:creationId xmlns:a16="http://schemas.microsoft.com/office/drawing/2014/main" id="{D06D7F0B-D102-084A-69CB-9010ECEAB08D}"/>
              </a:ext>
            </a:extLst>
          </p:cNvPr>
          <p:cNvSpPr txBox="1"/>
          <p:nvPr/>
        </p:nvSpPr>
        <p:spPr>
          <a:xfrm>
            <a:off x="1107508" y="1402201"/>
            <a:ext cx="7053942" cy="213904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45719" tIns="45719" rIns="45719" bIns="45719" numCol="1" spcCol="38100" rtlCol="0" anchor="t">
            <a:spAutoFit/>
          </a:bodyPr>
          <a:lstStyle/>
          <a:p>
            <a:pPr>
              <a:lnSpc>
                <a:spcPct val="250000"/>
              </a:lnSpc>
            </a:pPr>
            <a:r>
              <a:rPr lang="en-US" dirty="0">
                <a:latin typeface="Times New Roman" panose="02020603050405020304" pitchFamily="18" charset="0"/>
                <a:cs typeface="Times New Roman" panose="02020603050405020304" pitchFamily="18" charset="0"/>
              </a:rPr>
              <a:t>Blind curves lack real-time communication between approaching vehicles, leading to:</a:t>
            </a: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High risk of head-on collisions </a:t>
            </a: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Poor visibility in fog, rain, and night </a:t>
            </a: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Difficulty for heavy vehicles to maneuver </a:t>
            </a: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Insufficient reaction time for drivers </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Hence, there is a need for an intelligent, real-time, </a:t>
            </a:r>
          </a:p>
          <a:p>
            <a:r>
              <a:rPr lang="en-US" dirty="0">
                <a:latin typeface="Times New Roman" panose="02020603050405020304" pitchFamily="18" charset="0"/>
                <a:cs typeface="Times New Roman" panose="02020603050405020304" pitchFamily="18" charset="0"/>
              </a:rPr>
              <a:t>and predictive accident prevention system</a:t>
            </a:r>
          </a:p>
        </p:txBody>
      </p:sp>
      <p:pic>
        <p:nvPicPr>
          <p:cNvPr id="6" name="Picture 5">
            <a:extLst>
              <a:ext uri="{FF2B5EF4-FFF2-40B4-BE49-F238E27FC236}">
                <a16:creationId xmlns:a16="http://schemas.microsoft.com/office/drawing/2014/main" id="{40819EA8-BFC8-180D-11C0-51ECE0E66BD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36332" y="1929329"/>
            <a:ext cx="3300412" cy="2475309"/>
          </a:xfrm>
          <a:prstGeom prst="rect">
            <a:avLst/>
          </a:prstGeom>
        </p:spPr>
      </p:pic>
    </p:spTree>
    <p:extLst>
      <p:ext uri="{BB962C8B-B14F-4D97-AF65-F5344CB8AC3E}">
        <p14:creationId xmlns:p14="http://schemas.microsoft.com/office/powerpoint/2010/main" val="1453197138"/>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0B74A8-80A9-D7AB-B29D-81D6E5DA0F38}"/>
            </a:ext>
          </a:extLst>
        </p:cNvPr>
        <p:cNvGrpSpPr/>
        <p:nvPr/>
      </p:nvGrpSpPr>
      <p:grpSpPr>
        <a:xfrm>
          <a:off x="0" y="0"/>
          <a:ext cx="0" cy="0"/>
          <a:chOff x="0" y="0"/>
          <a:chExt cx="0" cy="0"/>
        </a:xfrm>
      </p:grpSpPr>
      <p:sp>
        <p:nvSpPr>
          <p:cNvPr id="68" name="Title 1">
            <a:extLst>
              <a:ext uri="{FF2B5EF4-FFF2-40B4-BE49-F238E27FC236}">
                <a16:creationId xmlns:a16="http://schemas.microsoft.com/office/drawing/2014/main" id="{01C47815-1698-E16A-0AF7-04E63FB76300}"/>
              </a:ext>
            </a:extLst>
          </p:cNvPr>
          <p:cNvSpPr txBox="1">
            <a:spLocks noGrp="1"/>
          </p:cNvSpPr>
          <p:nvPr>
            <p:ph type="title"/>
          </p:nvPr>
        </p:nvSpPr>
        <p:spPr>
          <a:xfrm>
            <a:off x="171539" y="327380"/>
            <a:ext cx="7989911" cy="716844"/>
          </a:xfrm>
          <a:prstGeom prst="rect">
            <a:avLst/>
          </a:prstGeom>
        </p:spPr>
        <p:txBody>
          <a:bodyPr/>
          <a:lstStyle>
            <a:lvl1pPr>
              <a:defRPr sz="2800" b="1">
                <a:latin typeface="Times New Roman" panose="02020603050405020304"/>
                <a:ea typeface="Times New Roman" panose="02020603050405020304"/>
                <a:cs typeface="Times New Roman" panose="02020603050405020304"/>
                <a:sym typeface="Times New Roman" panose="02020603050405020304"/>
              </a:defRPr>
            </a:lvl1pPr>
          </a:lstStyle>
          <a:p>
            <a:r>
              <a:rPr lang="en-US" dirty="0">
                <a:latin typeface="Times New Roman" panose="02020603050405020304" pitchFamily="18" charset="0"/>
                <a:cs typeface="Times New Roman" panose="02020603050405020304" pitchFamily="18" charset="0"/>
              </a:rPr>
              <a:t>Motivation</a:t>
            </a:r>
            <a:endParaRPr lang="en-US" dirty="0"/>
          </a:p>
        </p:txBody>
      </p:sp>
      <p:sp>
        <p:nvSpPr>
          <p:cNvPr id="70" name="Google Shape;119;p1">
            <a:extLst>
              <a:ext uri="{FF2B5EF4-FFF2-40B4-BE49-F238E27FC236}">
                <a16:creationId xmlns:a16="http://schemas.microsoft.com/office/drawing/2014/main" id="{96083D01-29BF-E40E-7280-F53F2D45207D}"/>
              </a:ext>
            </a:extLst>
          </p:cNvPr>
          <p:cNvSpPr txBox="1">
            <a:spLocks noGrp="1"/>
          </p:cNvSpPr>
          <p:nvPr>
            <p:ph type="sldNum" sz="quarter" idx="2"/>
          </p:nvPr>
        </p:nvSpPr>
        <p:spPr>
          <a:xfrm>
            <a:off x="8502807" y="4787809"/>
            <a:ext cx="183992" cy="250916"/>
          </a:xfrm>
          <a:prstGeom prst="rect">
            <a:avLst/>
          </a:prstGeom>
        </p:spPr>
        <p:txBody>
          <a:bodyPr/>
          <a:lstStyle>
            <a:lvl1pPr>
              <a:defRPr>
                <a:solidFill>
                  <a:srgbClr val="000000"/>
                </a:solidFill>
              </a:defRPr>
            </a:lvl1pPr>
          </a:lstStyle>
          <a:p>
            <a:fld id="{86CB4B4D-7CA3-9044-876B-883B54F8677D}" type="slidenum">
              <a:rPr/>
              <a:t>6</a:t>
            </a:fld>
            <a:endParaRPr/>
          </a:p>
        </p:txBody>
      </p:sp>
      <p:sp>
        <p:nvSpPr>
          <p:cNvPr id="3" name="Footer Placeholder 4">
            <a:extLst>
              <a:ext uri="{FF2B5EF4-FFF2-40B4-BE49-F238E27FC236}">
                <a16:creationId xmlns:a16="http://schemas.microsoft.com/office/drawing/2014/main" id="{3C9A88BE-F05A-690C-F46E-62EC3B2FE5ED}"/>
              </a:ext>
            </a:extLst>
          </p:cNvPr>
          <p:cNvSpPr txBox="1"/>
          <p:nvPr/>
        </p:nvSpPr>
        <p:spPr>
          <a:xfrm>
            <a:off x="1449990" y="4764397"/>
            <a:ext cx="6127428" cy="279634"/>
          </a:xfrm>
          <a:prstGeom prst="rect">
            <a:avLst/>
          </a:prstGeom>
          <a:ln w="12700">
            <a:miter lim="400000"/>
          </a:ln>
        </p:spPr>
        <p:txBody>
          <a:bodyPr wrap="square" lIns="47025" tIns="47025" rIns="47025" bIns="47025" anchor="ctr">
            <a:spAutoFit/>
          </a:bodyPr>
          <a:lstStyle>
            <a:lvl1pPr algn="ctr">
              <a:defRPr sz="1200">
                <a:solidFill>
                  <a:srgbClr val="888888"/>
                </a:solidFill>
                <a:latin typeface="Calibri" panose="020F0502020204030204"/>
                <a:ea typeface="Calibri" panose="020F0502020204030204"/>
                <a:cs typeface="Calibri" panose="020F0502020204030204"/>
                <a:sym typeface="Calibri" panose="020F0502020204030204"/>
              </a:defRPr>
            </a:lvl1pPr>
          </a:lstStyle>
          <a:p>
            <a:r>
              <a:rPr lang="en-US" dirty="0"/>
              <a:t>INDUSTRY ORIENTED MINI </a:t>
            </a:r>
            <a:r>
              <a:rPr dirty="0"/>
              <a:t>PROJECT(202</a:t>
            </a:r>
            <a:r>
              <a:rPr lang="en-IN" dirty="0"/>
              <a:t>6</a:t>
            </a:r>
            <a:r>
              <a:rPr dirty="0"/>
              <a:t>-202</a:t>
            </a:r>
            <a:r>
              <a:rPr lang="en-US" dirty="0"/>
              <a:t>7</a:t>
            </a:r>
            <a:r>
              <a:rPr dirty="0"/>
              <a:t>),</a:t>
            </a:r>
            <a:r>
              <a:rPr lang="en-IN" dirty="0"/>
              <a:t> </a:t>
            </a:r>
            <a:r>
              <a:rPr dirty="0"/>
              <a:t>DEPARTMENT OF ECE</a:t>
            </a:r>
            <a:r>
              <a:rPr lang="en-IN" dirty="0"/>
              <a:t>/ECM</a:t>
            </a:r>
            <a:r>
              <a:rPr dirty="0"/>
              <a:t> - Anurag University</a:t>
            </a:r>
          </a:p>
        </p:txBody>
      </p:sp>
      <p:sp>
        <p:nvSpPr>
          <p:cNvPr id="4" name="TextBox 3">
            <a:extLst>
              <a:ext uri="{FF2B5EF4-FFF2-40B4-BE49-F238E27FC236}">
                <a16:creationId xmlns:a16="http://schemas.microsoft.com/office/drawing/2014/main" id="{2DEA2028-05AF-C64D-0572-43FCC2EEF446}"/>
              </a:ext>
            </a:extLst>
          </p:cNvPr>
          <p:cNvSpPr txBox="1"/>
          <p:nvPr/>
        </p:nvSpPr>
        <p:spPr>
          <a:xfrm>
            <a:off x="1107508" y="1402201"/>
            <a:ext cx="7053942" cy="95410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45719" tIns="45719" rIns="45719" bIns="45719" numCol="1" spcCol="38100" rtlCol="0" anchor="t">
            <a:spAutoFit/>
          </a:bodyPr>
          <a:lstStyle/>
          <a:p>
            <a:pPr marL="285750" indent="-285750"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Increasing accidents in hilly regions due to blind curves.</a:t>
            </a:r>
          </a:p>
          <a:p>
            <a:pPr marL="285750" indent="-285750"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Lack of smart and dynamic traffic control systems.</a:t>
            </a:r>
          </a:p>
          <a:p>
            <a:pPr marL="285750" indent="-285750"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Need for low-cost and scalable solutions.</a:t>
            </a:r>
          </a:p>
          <a:p>
            <a:pPr marL="285750" indent="-285750"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Importance of protecting heavy vehicles and downhill traffic.</a:t>
            </a:r>
          </a:p>
        </p:txBody>
      </p:sp>
    </p:spTree>
    <p:extLst>
      <p:ext uri="{BB962C8B-B14F-4D97-AF65-F5344CB8AC3E}">
        <p14:creationId xmlns:p14="http://schemas.microsoft.com/office/powerpoint/2010/main" val="2371822796"/>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779F87-A2A6-58FB-305B-352611968588}"/>
            </a:ext>
          </a:extLst>
        </p:cNvPr>
        <p:cNvGrpSpPr/>
        <p:nvPr/>
      </p:nvGrpSpPr>
      <p:grpSpPr>
        <a:xfrm>
          <a:off x="0" y="0"/>
          <a:ext cx="0" cy="0"/>
          <a:chOff x="0" y="0"/>
          <a:chExt cx="0" cy="0"/>
        </a:xfrm>
      </p:grpSpPr>
      <p:sp>
        <p:nvSpPr>
          <p:cNvPr id="68" name="Title 1">
            <a:extLst>
              <a:ext uri="{FF2B5EF4-FFF2-40B4-BE49-F238E27FC236}">
                <a16:creationId xmlns:a16="http://schemas.microsoft.com/office/drawing/2014/main" id="{3F1B845E-E61C-22DD-A6CB-BC26E41FB13C}"/>
              </a:ext>
            </a:extLst>
          </p:cNvPr>
          <p:cNvSpPr txBox="1">
            <a:spLocks noGrp="1"/>
          </p:cNvSpPr>
          <p:nvPr>
            <p:ph type="title"/>
          </p:nvPr>
        </p:nvSpPr>
        <p:spPr>
          <a:xfrm>
            <a:off x="171539" y="327380"/>
            <a:ext cx="7989911" cy="716844"/>
          </a:xfrm>
          <a:prstGeom prst="rect">
            <a:avLst/>
          </a:prstGeom>
        </p:spPr>
        <p:txBody>
          <a:bodyPr/>
          <a:lstStyle>
            <a:lvl1pPr>
              <a:defRPr sz="2800" b="1">
                <a:latin typeface="Times New Roman" panose="02020603050405020304"/>
                <a:ea typeface="Times New Roman" panose="02020603050405020304"/>
                <a:cs typeface="Times New Roman" panose="02020603050405020304"/>
                <a:sym typeface="Times New Roman" panose="02020603050405020304"/>
              </a:defRPr>
            </a:lvl1pPr>
          </a:lstStyle>
          <a:p>
            <a:r>
              <a:rPr lang="en-US" dirty="0">
                <a:latin typeface="Times New Roman" panose="02020603050405020304" pitchFamily="18" charset="0"/>
                <a:cs typeface="Times New Roman" panose="02020603050405020304" pitchFamily="18" charset="0"/>
              </a:rPr>
              <a:t>Study of Existing Methods</a:t>
            </a:r>
          </a:p>
        </p:txBody>
      </p:sp>
      <p:sp>
        <p:nvSpPr>
          <p:cNvPr id="70" name="Google Shape;119;p1">
            <a:extLst>
              <a:ext uri="{FF2B5EF4-FFF2-40B4-BE49-F238E27FC236}">
                <a16:creationId xmlns:a16="http://schemas.microsoft.com/office/drawing/2014/main" id="{20B4D4E2-5B28-E564-2617-0DEEF410219B}"/>
              </a:ext>
            </a:extLst>
          </p:cNvPr>
          <p:cNvSpPr txBox="1">
            <a:spLocks noGrp="1"/>
          </p:cNvSpPr>
          <p:nvPr>
            <p:ph type="sldNum" sz="quarter" idx="2"/>
          </p:nvPr>
        </p:nvSpPr>
        <p:spPr>
          <a:xfrm>
            <a:off x="8502807" y="4787809"/>
            <a:ext cx="183992" cy="250916"/>
          </a:xfrm>
          <a:prstGeom prst="rect">
            <a:avLst/>
          </a:prstGeom>
        </p:spPr>
        <p:txBody>
          <a:bodyPr/>
          <a:lstStyle>
            <a:lvl1pPr>
              <a:defRPr>
                <a:solidFill>
                  <a:srgbClr val="000000"/>
                </a:solidFill>
              </a:defRPr>
            </a:lvl1pPr>
          </a:lstStyle>
          <a:p>
            <a:fld id="{86CB4B4D-7CA3-9044-876B-883B54F8677D}" type="slidenum">
              <a:rPr/>
              <a:t>7</a:t>
            </a:fld>
            <a:endParaRPr/>
          </a:p>
        </p:txBody>
      </p:sp>
      <p:sp>
        <p:nvSpPr>
          <p:cNvPr id="3" name="Footer Placeholder 4">
            <a:extLst>
              <a:ext uri="{FF2B5EF4-FFF2-40B4-BE49-F238E27FC236}">
                <a16:creationId xmlns:a16="http://schemas.microsoft.com/office/drawing/2014/main" id="{56BBBB1F-F2F0-C0BA-D41F-2EB109721CAA}"/>
              </a:ext>
            </a:extLst>
          </p:cNvPr>
          <p:cNvSpPr txBox="1"/>
          <p:nvPr/>
        </p:nvSpPr>
        <p:spPr>
          <a:xfrm>
            <a:off x="1449990" y="4764397"/>
            <a:ext cx="6127428" cy="279634"/>
          </a:xfrm>
          <a:prstGeom prst="rect">
            <a:avLst/>
          </a:prstGeom>
          <a:ln w="12700">
            <a:miter lim="400000"/>
          </a:ln>
        </p:spPr>
        <p:txBody>
          <a:bodyPr wrap="square" lIns="47025" tIns="47025" rIns="47025" bIns="47025" anchor="ctr">
            <a:spAutoFit/>
          </a:bodyPr>
          <a:lstStyle>
            <a:lvl1pPr algn="ctr">
              <a:defRPr sz="1200">
                <a:solidFill>
                  <a:srgbClr val="888888"/>
                </a:solidFill>
                <a:latin typeface="Calibri" panose="020F0502020204030204"/>
                <a:ea typeface="Calibri" panose="020F0502020204030204"/>
                <a:cs typeface="Calibri" panose="020F0502020204030204"/>
                <a:sym typeface="Calibri" panose="020F0502020204030204"/>
              </a:defRPr>
            </a:lvl1pPr>
          </a:lstStyle>
          <a:p>
            <a:r>
              <a:rPr lang="en-US" dirty="0"/>
              <a:t>INDUSTRY ORIENTED MINI </a:t>
            </a:r>
            <a:r>
              <a:rPr dirty="0"/>
              <a:t>PROJECT(202</a:t>
            </a:r>
            <a:r>
              <a:rPr lang="en-IN" dirty="0"/>
              <a:t>6</a:t>
            </a:r>
            <a:r>
              <a:rPr dirty="0"/>
              <a:t>-202</a:t>
            </a:r>
            <a:r>
              <a:rPr lang="en-US" dirty="0"/>
              <a:t>7</a:t>
            </a:r>
            <a:r>
              <a:rPr dirty="0"/>
              <a:t>),</a:t>
            </a:r>
            <a:r>
              <a:rPr lang="en-IN" dirty="0"/>
              <a:t> </a:t>
            </a:r>
            <a:r>
              <a:rPr dirty="0"/>
              <a:t>DEPARTMENT OF ECE</a:t>
            </a:r>
            <a:r>
              <a:rPr lang="en-IN" dirty="0"/>
              <a:t> /ECM</a:t>
            </a:r>
            <a:r>
              <a:rPr dirty="0"/>
              <a:t> - Anurag University</a:t>
            </a:r>
          </a:p>
        </p:txBody>
      </p:sp>
      <p:sp>
        <p:nvSpPr>
          <p:cNvPr id="4" name="TextBox 3">
            <a:extLst>
              <a:ext uri="{FF2B5EF4-FFF2-40B4-BE49-F238E27FC236}">
                <a16:creationId xmlns:a16="http://schemas.microsoft.com/office/drawing/2014/main" id="{558460BD-F946-EDD6-5BA5-6482974A7471}"/>
              </a:ext>
            </a:extLst>
          </p:cNvPr>
          <p:cNvSpPr txBox="1"/>
          <p:nvPr/>
        </p:nvSpPr>
        <p:spPr>
          <a:xfrm>
            <a:off x="1107508" y="1402201"/>
            <a:ext cx="7053942" cy="2462210"/>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45719" tIns="45719" rIns="45719" bIns="45719" numCol="1" spcCol="38100" rtlCol="0" anchor="t">
            <a:spAutoFit/>
          </a:bodyPr>
          <a:lstStyle/>
          <a:p>
            <a:r>
              <a:rPr lang="en-US" dirty="0">
                <a:latin typeface="Times New Roman" panose="02020603050405020304" pitchFamily="18" charset="0"/>
                <a:cs typeface="Times New Roman" panose="02020603050405020304" pitchFamily="18" charset="0"/>
              </a:rPr>
              <a:t>Existing methods include:</a:t>
            </a: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Convex mirrors</a:t>
            </a: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Warning signboards</a:t>
            </a: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Speed breakers</a:t>
            </a: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Basic ultrasonic detection systems </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Limitations:</a:t>
            </a: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No real-time vehicle detection</a:t>
            </a: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No communication between both sides</a:t>
            </a: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Ineffective in bad weather</a:t>
            </a:r>
          </a:p>
          <a:p>
            <a:pPr marL="285750" indent="-285750">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No predictive capability</a:t>
            </a:r>
          </a:p>
        </p:txBody>
      </p:sp>
      <p:pic>
        <p:nvPicPr>
          <p:cNvPr id="5" name="Picture 4">
            <a:extLst>
              <a:ext uri="{FF2B5EF4-FFF2-40B4-BE49-F238E27FC236}">
                <a16:creationId xmlns:a16="http://schemas.microsoft.com/office/drawing/2014/main" id="{BC6ABC83-928C-BB89-3B3E-E23AC1835E3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66494" y="1168916"/>
            <a:ext cx="4221957" cy="1855352"/>
          </a:xfrm>
          <a:prstGeom prst="rect">
            <a:avLst/>
          </a:prstGeom>
        </p:spPr>
      </p:pic>
    </p:spTree>
    <p:extLst>
      <p:ext uri="{BB962C8B-B14F-4D97-AF65-F5344CB8AC3E}">
        <p14:creationId xmlns:p14="http://schemas.microsoft.com/office/powerpoint/2010/main" val="2549514372"/>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ABC860-7C85-598A-CB48-1A543D2B66D9}"/>
            </a:ext>
          </a:extLst>
        </p:cNvPr>
        <p:cNvGrpSpPr/>
        <p:nvPr/>
      </p:nvGrpSpPr>
      <p:grpSpPr>
        <a:xfrm>
          <a:off x="0" y="0"/>
          <a:ext cx="0" cy="0"/>
          <a:chOff x="0" y="0"/>
          <a:chExt cx="0" cy="0"/>
        </a:xfrm>
      </p:grpSpPr>
      <p:sp>
        <p:nvSpPr>
          <p:cNvPr id="68" name="Title 1">
            <a:extLst>
              <a:ext uri="{FF2B5EF4-FFF2-40B4-BE49-F238E27FC236}">
                <a16:creationId xmlns:a16="http://schemas.microsoft.com/office/drawing/2014/main" id="{F6AD5EFC-5821-4F81-B4B4-41C4107A3E68}"/>
              </a:ext>
            </a:extLst>
          </p:cNvPr>
          <p:cNvSpPr txBox="1">
            <a:spLocks noGrp="1"/>
          </p:cNvSpPr>
          <p:nvPr>
            <p:ph type="title"/>
          </p:nvPr>
        </p:nvSpPr>
        <p:spPr>
          <a:xfrm>
            <a:off x="171539" y="327380"/>
            <a:ext cx="7989911" cy="716844"/>
          </a:xfrm>
          <a:prstGeom prst="rect">
            <a:avLst/>
          </a:prstGeom>
        </p:spPr>
        <p:txBody>
          <a:bodyPr/>
          <a:lstStyle>
            <a:lvl1pPr>
              <a:defRPr sz="2800" b="1">
                <a:latin typeface="Times New Roman" panose="02020603050405020304"/>
                <a:ea typeface="Times New Roman" panose="02020603050405020304"/>
                <a:cs typeface="Times New Roman" panose="02020603050405020304"/>
                <a:sym typeface="Times New Roman" panose="02020603050405020304"/>
              </a:defRPr>
            </a:lvl1pPr>
          </a:lstStyle>
          <a:p>
            <a:r>
              <a:rPr lang="en-US" dirty="0">
                <a:latin typeface="Times New Roman" panose="02020603050405020304" pitchFamily="18" charset="0"/>
                <a:cs typeface="Times New Roman" panose="02020603050405020304" pitchFamily="18" charset="0"/>
              </a:rPr>
              <a:t>Objectives</a:t>
            </a:r>
            <a:endParaRPr lang="en-US" dirty="0"/>
          </a:p>
        </p:txBody>
      </p:sp>
      <p:sp>
        <p:nvSpPr>
          <p:cNvPr id="70" name="Google Shape;119;p1">
            <a:extLst>
              <a:ext uri="{FF2B5EF4-FFF2-40B4-BE49-F238E27FC236}">
                <a16:creationId xmlns:a16="http://schemas.microsoft.com/office/drawing/2014/main" id="{C3A0C274-F5E4-4236-C83D-A4784C19DBAA}"/>
              </a:ext>
            </a:extLst>
          </p:cNvPr>
          <p:cNvSpPr txBox="1">
            <a:spLocks noGrp="1"/>
          </p:cNvSpPr>
          <p:nvPr>
            <p:ph type="sldNum" sz="quarter" idx="2"/>
          </p:nvPr>
        </p:nvSpPr>
        <p:spPr>
          <a:xfrm>
            <a:off x="8502807" y="4787809"/>
            <a:ext cx="183992" cy="250916"/>
          </a:xfrm>
          <a:prstGeom prst="rect">
            <a:avLst/>
          </a:prstGeom>
        </p:spPr>
        <p:txBody>
          <a:bodyPr/>
          <a:lstStyle>
            <a:lvl1pPr>
              <a:defRPr>
                <a:solidFill>
                  <a:srgbClr val="000000"/>
                </a:solidFill>
              </a:defRPr>
            </a:lvl1pPr>
          </a:lstStyle>
          <a:p>
            <a:fld id="{86CB4B4D-7CA3-9044-876B-883B54F8677D}" type="slidenum">
              <a:rPr/>
              <a:t>8</a:t>
            </a:fld>
            <a:endParaRPr/>
          </a:p>
        </p:txBody>
      </p:sp>
      <p:sp>
        <p:nvSpPr>
          <p:cNvPr id="3" name="Footer Placeholder 4">
            <a:extLst>
              <a:ext uri="{FF2B5EF4-FFF2-40B4-BE49-F238E27FC236}">
                <a16:creationId xmlns:a16="http://schemas.microsoft.com/office/drawing/2014/main" id="{0DB6C5E0-5725-FE81-3BD9-8C0A5ECF325D}"/>
              </a:ext>
            </a:extLst>
          </p:cNvPr>
          <p:cNvSpPr txBox="1"/>
          <p:nvPr/>
        </p:nvSpPr>
        <p:spPr>
          <a:xfrm>
            <a:off x="1449990" y="4764397"/>
            <a:ext cx="6127428" cy="279634"/>
          </a:xfrm>
          <a:prstGeom prst="rect">
            <a:avLst/>
          </a:prstGeom>
          <a:ln w="12700">
            <a:miter lim="400000"/>
          </a:ln>
        </p:spPr>
        <p:txBody>
          <a:bodyPr wrap="square" lIns="47025" tIns="47025" rIns="47025" bIns="47025" anchor="ctr">
            <a:spAutoFit/>
          </a:bodyPr>
          <a:lstStyle>
            <a:lvl1pPr algn="ctr">
              <a:defRPr sz="1200">
                <a:solidFill>
                  <a:srgbClr val="888888"/>
                </a:solidFill>
                <a:latin typeface="Calibri" panose="020F0502020204030204"/>
                <a:ea typeface="Calibri" panose="020F0502020204030204"/>
                <a:cs typeface="Calibri" panose="020F0502020204030204"/>
                <a:sym typeface="Calibri" panose="020F0502020204030204"/>
              </a:defRPr>
            </a:lvl1pPr>
          </a:lstStyle>
          <a:p>
            <a:r>
              <a:rPr lang="en-US" dirty="0"/>
              <a:t>INDUSTRY ORIENTED MINI </a:t>
            </a:r>
            <a:r>
              <a:rPr dirty="0"/>
              <a:t>PROJECT(202</a:t>
            </a:r>
            <a:r>
              <a:rPr lang="en-IN" dirty="0"/>
              <a:t>6</a:t>
            </a:r>
            <a:r>
              <a:rPr dirty="0"/>
              <a:t>-202</a:t>
            </a:r>
            <a:r>
              <a:rPr lang="en-US" dirty="0"/>
              <a:t>7</a:t>
            </a:r>
            <a:r>
              <a:rPr dirty="0"/>
              <a:t>),</a:t>
            </a:r>
            <a:r>
              <a:rPr lang="en-IN" dirty="0"/>
              <a:t> </a:t>
            </a:r>
            <a:r>
              <a:rPr dirty="0"/>
              <a:t>DEPARTMENT OF ECE</a:t>
            </a:r>
            <a:r>
              <a:rPr lang="en-IN" dirty="0"/>
              <a:t>/ECM</a:t>
            </a:r>
            <a:r>
              <a:rPr dirty="0"/>
              <a:t> - Anurag University</a:t>
            </a:r>
          </a:p>
        </p:txBody>
      </p:sp>
      <p:sp>
        <p:nvSpPr>
          <p:cNvPr id="4" name="TextBox 3">
            <a:extLst>
              <a:ext uri="{FF2B5EF4-FFF2-40B4-BE49-F238E27FC236}">
                <a16:creationId xmlns:a16="http://schemas.microsoft.com/office/drawing/2014/main" id="{897FB0AB-45EC-6097-36B4-5B86C6394329}"/>
              </a:ext>
            </a:extLst>
          </p:cNvPr>
          <p:cNvSpPr txBox="1"/>
          <p:nvPr/>
        </p:nvSpPr>
        <p:spPr>
          <a:xfrm>
            <a:off x="1107508" y="1402201"/>
            <a:ext cx="7053942" cy="1600436"/>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45719" tIns="45719" rIns="45719" bIns="45719" numCol="1" spcCol="38100" rtlCol="0" anchor="t">
            <a:spAutoFit/>
          </a:bodyPr>
          <a:lstStyle/>
          <a:p>
            <a:pPr marL="285750" indent="-285750"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Detect vehicles </a:t>
            </a:r>
            <a:r>
              <a:rPr lang="en-US" b="1" dirty="0">
                <a:latin typeface="Times New Roman" panose="02020603050405020304" pitchFamily="18" charset="0"/>
                <a:cs typeface="Times New Roman" panose="02020603050405020304" pitchFamily="18" charset="0"/>
              </a:rPr>
              <a:t>in advance</a:t>
            </a:r>
          </a:p>
          <a:p>
            <a:pPr marL="285750" indent="-285750"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Classify vehicles as light or heavy</a:t>
            </a:r>
          </a:p>
          <a:p>
            <a:pPr marL="285750" indent="-285750" algn="jus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Measure vehicle speed</a:t>
            </a:r>
          </a:p>
          <a:p>
            <a:pPr marL="285750" indent="-285750"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Calculate time to reach the curve (ETA)</a:t>
            </a:r>
          </a:p>
          <a:p>
            <a:pPr marL="285750" indent="-285750" algn="jus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Implement priority-based traffic control</a:t>
            </a:r>
          </a:p>
          <a:p>
            <a:pPr marL="285750" indent="-285750"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Provide real-time visual and audio alerts</a:t>
            </a:r>
          </a:p>
          <a:p>
            <a:pPr marL="285750" indent="-285750"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Develop a low-cost and scalable system</a:t>
            </a:r>
          </a:p>
        </p:txBody>
      </p:sp>
    </p:spTree>
    <p:extLst>
      <p:ext uri="{BB962C8B-B14F-4D97-AF65-F5344CB8AC3E}">
        <p14:creationId xmlns:p14="http://schemas.microsoft.com/office/powerpoint/2010/main" val="1199090060"/>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F7BDFB-C6A3-B77C-1907-578B7F941ADC}"/>
            </a:ext>
          </a:extLst>
        </p:cNvPr>
        <p:cNvGrpSpPr/>
        <p:nvPr/>
      </p:nvGrpSpPr>
      <p:grpSpPr>
        <a:xfrm>
          <a:off x="0" y="0"/>
          <a:ext cx="0" cy="0"/>
          <a:chOff x="0" y="0"/>
          <a:chExt cx="0" cy="0"/>
        </a:xfrm>
      </p:grpSpPr>
      <p:sp>
        <p:nvSpPr>
          <p:cNvPr id="68" name="Title 1">
            <a:extLst>
              <a:ext uri="{FF2B5EF4-FFF2-40B4-BE49-F238E27FC236}">
                <a16:creationId xmlns:a16="http://schemas.microsoft.com/office/drawing/2014/main" id="{EA71D64F-87AE-97F7-7126-407FAA9BC6A9}"/>
              </a:ext>
            </a:extLst>
          </p:cNvPr>
          <p:cNvSpPr txBox="1">
            <a:spLocks noGrp="1"/>
          </p:cNvSpPr>
          <p:nvPr>
            <p:ph type="title"/>
          </p:nvPr>
        </p:nvSpPr>
        <p:spPr>
          <a:xfrm>
            <a:off x="171539" y="327380"/>
            <a:ext cx="7989911" cy="716844"/>
          </a:xfrm>
          <a:prstGeom prst="rect">
            <a:avLst/>
          </a:prstGeom>
        </p:spPr>
        <p:txBody>
          <a:bodyPr/>
          <a:lstStyle>
            <a:lvl1pPr>
              <a:defRPr sz="2800" b="1">
                <a:latin typeface="Times New Roman" panose="02020603050405020304"/>
                <a:ea typeface="Times New Roman" panose="02020603050405020304"/>
                <a:cs typeface="Times New Roman" panose="02020603050405020304"/>
                <a:sym typeface="Times New Roman" panose="02020603050405020304"/>
              </a:defRPr>
            </a:lvl1pPr>
          </a:lstStyle>
          <a:p>
            <a:r>
              <a:rPr lang="en-US" dirty="0">
                <a:latin typeface="Times New Roman" panose="02020603050405020304" pitchFamily="18" charset="0"/>
                <a:cs typeface="Times New Roman" panose="02020603050405020304" pitchFamily="18" charset="0"/>
              </a:rPr>
              <a:t>Methodology of Proposed Work</a:t>
            </a:r>
          </a:p>
        </p:txBody>
      </p:sp>
      <p:sp>
        <p:nvSpPr>
          <p:cNvPr id="70" name="Google Shape;119;p1">
            <a:extLst>
              <a:ext uri="{FF2B5EF4-FFF2-40B4-BE49-F238E27FC236}">
                <a16:creationId xmlns:a16="http://schemas.microsoft.com/office/drawing/2014/main" id="{751E366D-6638-8D70-F732-8E26B6C8C6D8}"/>
              </a:ext>
            </a:extLst>
          </p:cNvPr>
          <p:cNvSpPr txBox="1">
            <a:spLocks noGrp="1"/>
          </p:cNvSpPr>
          <p:nvPr>
            <p:ph type="sldNum" sz="quarter" idx="2"/>
          </p:nvPr>
        </p:nvSpPr>
        <p:spPr>
          <a:xfrm>
            <a:off x="8502807" y="4787809"/>
            <a:ext cx="183992" cy="250916"/>
          </a:xfrm>
          <a:prstGeom prst="rect">
            <a:avLst/>
          </a:prstGeom>
        </p:spPr>
        <p:txBody>
          <a:bodyPr/>
          <a:lstStyle>
            <a:lvl1pPr>
              <a:defRPr>
                <a:solidFill>
                  <a:srgbClr val="000000"/>
                </a:solidFill>
              </a:defRPr>
            </a:lvl1pPr>
          </a:lstStyle>
          <a:p>
            <a:fld id="{86CB4B4D-7CA3-9044-876B-883B54F8677D}" type="slidenum">
              <a:rPr/>
              <a:t>9</a:t>
            </a:fld>
            <a:endParaRPr/>
          </a:p>
        </p:txBody>
      </p:sp>
      <p:sp>
        <p:nvSpPr>
          <p:cNvPr id="3" name="Footer Placeholder 4">
            <a:extLst>
              <a:ext uri="{FF2B5EF4-FFF2-40B4-BE49-F238E27FC236}">
                <a16:creationId xmlns:a16="http://schemas.microsoft.com/office/drawing/2014/main" id="{6791AA40-656A-925B-F671-EF7D045C3506}"/>
              </a:ext>
            </a:extLst>
          </p:cNvPr>
          <p:cNvSpPr txBox="1"/>
          <p:nvPr/>
        </p:nvSpPr>
        <p:spPr>
          <a:xfrm>
            <a:off x="1449990" y="4764397"/>
            <a:ext cx="6127428" cy="279634"/>
          </a:xfrm>
          <a:prstGeom prst="rect">
            <a:avLst/>
          </a:prstGeom>
          <a:ln w="12700">
            <a:miter lim="400000"/>
          </a:ln>
        </p:spPr>
        <p:txBody>
          <a:bodyPr wrap="square" lIns="47025" tIns="47025" rIns="47025" bIns="47025" anchor="ctr">
            <a:spAutoFit/>
          </a:bodyPr>
          <a:lstStyle>
            <a:lvl1pPr algn="ctr">
              <a:defRPr sz="1200">
                <a:solidFill>
                  <a:srgbClr val="888888"/>
                </a:solidFill>
                <a:latin typeface="Calibri" panose="020F0502020204030204"/>
                <a:ea typeface="Calibri" panose="020F0502020204030204"/>
                <a:cs typeface="Calibri" panose="020F0502020204030204"/>
                <a:sym typeface="Calibri" panose="020F0502020204030204"/>
              </a:defRPr>
            </a:lvl1pPr>
          </a:lstStyle>
          <a:p>
            <a:r>
              <a:rPr lang="en-US" dirty="0"/>
              <a:t>INDUSTRY ORIENTED MINI </a:t>
            </a:r>
            <a:r>
              <a:rPr dirty="0"/>
              <a:t>PROJECT(202</a:t>
            </a:r>
            <a:r>
              <a:rPr lang="en-IN" dirty="0"/>
              <a:t>6</a:t>
            </a:r>
            <a:r>
              <a:rPr dirty="0"/>
              <a:t>-202</a:t>
            </a:r>
            <a:r>
              <a:rPr lang="en-US" dirty="0"/>
              <a:t>7</a:t>
            </a:r>
            <a:r>
              <a:rPr dirty="0"/>
              <a:t>),</a:t>
            </a:r>
            <a:r>
              <a:rPr lang="en-IN" dirty="0"/>
              <a:t> </a:t>
            </a:r>
            <a:r>
              <a:rPr dirty="0"/>
              <a:t>DEPARTMENT OF ECE</a:t>
            </a:r>
            <a:r>
              <a:rPr lang="en-IN" dirty="0"/>
              <a:t>/ECM</a:t>
            </a:r>
            <a:r>
              <a:rPr dirty="0"/>
              <a:t> - Anurag University</a:t>
            </a:r>
          </a:p>
        </p:txBody>
      </p:sp>
      <p:sp>
        <p:nvSpPr>
          <p:cNvPr id="4" name="TextBox 3">
            <a:extLst>
              <a:ext uri="{FF2B5EF4-FFF2-40B4-BE49-F238E27FC236}">
                <a16:creationId xmlns:a16="http://schemas.microsoft.com/office/drawing/2014/main" id="{C32F5F37-C9CB-2031-B825-A20E32BBD743}"/>
              </a:ext>
            </a:extLst>
          </p:cNvPr>
          <p:cNvSpPr txBox="1"/>
          <p:nvPr/>
        </p:nvSpPr>
        <p:spPr>
          <a:xfrm>
            <a:off x="1107508" y="933898"/>
            <a:ext cx="7053942" cy="3539428"/>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45719" tIns="45719" rIns="45719" bIns="45719" numCol="1" spcCol="38100" rtlCol="0" anchor="t">
            <a:spAutoFit/>
          </a:bodyPr>
          <a:lstStyle/>
          <a:p>
            <a:pPr marL="285750" indent="-285750">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Vehicles are detected using ultrasonic sensors </a:t>
            </a:r>
          </a:p>
          <a:p>
            <a:pPr marL="285750" indent="-285750">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Speed is calculated using dual sensor method </a:t>
            </a:r>
          </a:p>
          <a:p>
            <a:pPr marL="285750" indent="-285750">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Time-to-curve is estimated </a:t>
            </a:r>
          </a:p>
          <a:p>
            <a:pPr marL="285750" indent="-285750">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Data is transmitted via LoRa to the main unit </a:t>
            </a:r>
          </a:p>
          <a:p>
            <a:pPr marL="285750" indent="-285750">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Main controller processes: </a:t>
            </a:r>
          </a:p>
          <a:p>
            <a:pPr lvl="0"/>
            <a:r>
              <a:rPr lang="en-IN" dirty="0">
                <a:latin typeface="Times New Roman" panose="02020603050405020304" pitchFamily="18" charset="0"/>
                <a:cs typeface="Times New Roman" panose="02020603050405020304" pitchFamily="18" charset="0"/>
              </a:rPr>
              <a:t>	Vehicle type </a:t>
            </a:r>
          </a:p>
          <a:p>
            <a:pPr lvl="0"/>
            <a:r>
              <a:rPr lang="en-IN" dirty="0">
                <a:latin typeface="Times New Roman" panose="02020603050405020304" pitchFamily="18" charset="0"/>
                <a:cs typeface="Times New Roman" panose="02020603050405020304" pitchFamily="18" charset="0"/>
              </a:rPr>
              <a:t>	Speed </a:t>
            </a:r>
          </a:p>
          <a:p>
            <a:pPr lvl="0"/>
            <a:r>
              <a:rPr lang="en-IN" dirty="0">
                <a:latin typeface="Times New Roman" panose="02020603050405020304" pitchFamily="18" charset="0"/>
                <a:cs typeface="Times New Roman" panose="02020603050405020304" pitchFamily="18" charset="0"/>
              </a:rPr>
              <a:t>	Direction </a:t>
            </a:r>
          </a:p>
          <a:p>
            <a:pPr lvl="0"/>
            <a:r>
              <a:rPr lang="en-IN" dirty="0">
                <a:latin typeface="Times New Roman" panose="02020603050405020304" pitchFamily="18" charset="0"/>
                <a:cs typeface="Times New Roman" panose="02020603050405020304" pitchFamily="18" charset="0"/>
              </a:rPr>
              <a:t>	ETA </a:t>
            </a:r>
          </a:p>
          <a:p>
            <a:pPr marL="285750" indent="-285750">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Priority logic applied: </a:t>
            </a:r>
          </a:p>
          <a:p>
            <a:pPr lvl="0"/>
            <a:r>
              <a:rPr lang="en-IN" dirty="0">
                <a:latin typeface="Times New Roman" panose="02020603050405020304" pitchFamily="18" charset="0"/>
                <a:cs typeface="Times New Roman" panose="02020603050405020304" pitchFamily="18" charset="0"/>
              </a:rPr>
              <a:t>	Downhill vehicle priority </a:t>
            </a:r>
          </a:p>
          <a:p>
            <a:pPr lvl="0"/>
            <a:r>
              <a:rPr lang="en-IN" dirty="0">
                <a:latin typeface="Times New Roman" panose="02020603050405020304" pitchFamily="18" charset="0"/>
                <a:cs typeface="Times New Roman" panose="02020603050405020304" pitchFamily="18" charset="0"/>
              </a:rPr>
              <a:t>	Heavy vehicle priority </a:t>
            </a:r>
          </a:p>
          <a:p>
            <a:pPr marL="285750" indent="-285750">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Alerts generated: </a:t>
            </a:r>
          </a:p>
          <a:p>
            <a:pPr lvl="0"/>
            <a:r>
              <a:rPr lang="en-IN" dirty="0">
                <a:latin typeface="Times New Roman" panose="02020603050405020304" pitchFamily="18" charset="0"/>
                <a:cs typeface="Times New Roman" panose="02020603050405020304" pitchFamily="18" charset="0"/>
              </a:rPr>
              <a:t>	LED signals </a:t>
            </a:r>
          </a:p>
          <a:p>
            <a:pPr lvl="0"/>
            <a:r>
              <a:rPr lang="en-IN" dirty="0">
                <a:latin typeface="Times New Roman" panose="02020603050405020304" pitchFamily="18" charset="0"/>
                <a:cs typeface="Times New Roman" panose="02020603050405020304" pitchFamily="18" charset="0"/>
              </a:rPr>
              <a:t>	Buzzer alerts </a:t>
            </a:r>
          </a:p>
          <a:p>
            <a:pPr lvl="0"/>
            <a:r>
              <a:rPr lang="en-IN" dirty="0">
                <a:latin typeface="Times New Roman" panose="02020603050405020304" pitchFamily="18" charset="0"/>
                <a:cs typeface="Times New Roman" panose="02020603050405020304" pitchFamily="18" charset="0"/>
              </a:rPr>
              <a:t>	LCD messages </a:t>
            </a:r>
          </a:p>
        </p:txBody>
      </p:sp>
    </p:spTree>
    <p:extLst>
      <p:ext uri="{BB962C8B-B14F-4D97-AF65-F5344CB8AC3E}">
        <p14:creationId xmlns:p14="http://schemas.microsoft.com/office/powerpoint/2010/main" val="1889769464"/>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967C43-6172-34C9-C839-F237D827365B}"/>
            </a:ext>
          </a:extLst>
        </p:cNvPr>
        <p:cNvGrpSpPr/>
        <p:nvPr/>
      </p:nvGrpSpPr>
      <p:grpSpPr>
        <a:xfrm>
          <a:off x="0" y="0"/>
          <a:ext cx="0" cy="0"/>
          <a:chOff x="0" y="0"/>
          <a:chExt cx="0" cy="0"/>
        </a:xfrm>
      </p:grpSpPr>
      <p:sp>
        <p:nvSpPr>
          <p:cNvPr id="68" name="Title 1">
            <a:extLst>
              <a:ext uri="{FF2B5EF4-FFF2-40B4-BE49-F238E27FC236}">
                <a16:creationId xmlns:a16="http://schemas.microsoft.com/office/drawing/2014/main" id="{F2F37F6D-E739-5FF1-6C7B-2511D9EDCDD3}"/>
              </a:ext>
            </a:extLst>
          </p:cNvPr>
          <p:cNvSpPr txBox="1">
            <a:spLocks noGrp="1"/>
          </p:cNvSpPr>
          <p:nvPr>
            <p:ph type="title"/>
          </p:nvPr>
        </p:nvSpPr>
        <p:spPr>
          <a:xfrm>
            <a:off x="171539" y="327380"/>
            <a:ext cx="7989911" cy="716844"/>
          </a:xfrm>
          <a:prstGeom prst="rect">
            <a:avLst/>
          </a:prstGeom>
        </p:spPr>
        <p:txBody>
          <a:bodyPr/>
          <a:lstStyle>
            <a:lvl1pPr>
              <a:defRPr sz="2800" b="1">
                <a:latin typeface="Times New Roman" panose="02020603050405020304"/>
                <a:ea typeface="Times New Roman" panose="02020603050405020304"/>
                <a:cs typeface="Times New Roman" panose="02020603050405020304"/>
                <a:sym typeface="Times New Roman" panose="02020603050405020304"/>
              </a:defRPr>
            </a:lvl1pPr>
          </a:lstStyle>
          <a:p>
            <a:r>
              <a:rPr lang="en-US" dirty="0">
                <a:latin typeface="Times New Roman" panose="02020603050405020304" pitchFamily="18" charset="0"/>
                <a:cs typeface="Times New Roman" panose="02020603050405020304" pitchFamily="18" charset="0"/>
              </a:rPr>
              <a:t>Tools / Dataset</a:t>
            </a:r>
          </a:p>
        </p:txBody>
      </p:sp>
      <p:sp>
        <p:nvSpPr>
          <p:cNvPr id="70" name="Google Shape;119;p1">
            <a:extLst>
              <a:ext uri="{FF2B5EF4-FFF2-40B4-BE49-F238E27FC236}">
                <a16:creationId xmlns:a16="http://schemas.microsoft.com/office/drawing/2014/main" id="{386218B3-F216-F72A-B1AC-DCD91D061D21}"/>
              </a:ext>
            </a:extLst>
          </p:cNvPr>
          <p:cNvSpPr txBox="1">
            <a:spLocks noGrp="1"/>
          </p:cNvSpPr>
          <p:nvPr>
            <p:ph type="sldNum" sz="quarter" idx="2"/>
          </p:nvPr>
        </p:nvSpPr>
        <p:spPr>
          <a:xfrm>
            <a:off x="8502807" y="4787809"/>
            <a:ext cx="183992" cy="250916"/>
          </a:xfrm>
          <a:prstGeom prst="rect">
            <a:avLst/>
          </a:prstGeom>
        </p:spPr>
        <p:txBody>
          <a:bodyPr/>
          <a:lstStyle>
            <a:lvl1pPr>
              <a:defRPr>
                <a:solidFill>
                  <a:srgbClr val="000000"/>
                </a:solidFill>
              </a:defRPr>
            </a:lvl1pPr>
          </a:lstStyle>
          <a:p>
            <a:fld id="{86CB4B4D-7CA3-9044-876B-883B54F8677D}" type="slidenum">
              <a:rPr/>
              <a:t>10</a:t>
            </a:fld>
            <a:endParaRPr/>
          </a:p>
        </p:txBody>
      </p:sp>
      <p:sp>
        <p:nvSpPr>
          <p:cNvPr id="3" name="Footer Placeholder 4">
            <a:extLst>
              <a:ext uri="{FF2B5EF4-FFF2-40B4-BE49-F238E27FC236}">
                <a16:creationId xmlns:a16="http://schemas.microsoft.com/office/drawing/2014/main" id="{0659C75D-FDED-571E-12F5-7936ED33F573}"/>
              </a:ext>
            </a:extLst>
          </p:cNvPr>
          <p:cNvSpPr txBox="1"/>
          <p:nvPr/>
        </p:nvSpPr>
        <p:spPr>
          <a:xfrm>
            <a:off x="1449990" y="4764397"/>
            <a:ext cx="6127428" cy="279634"/>
          </a:xfrm>
          <a:prstGeom prst="rect">
            <a:avLst/>
          </a:prstGeom>
          <a:ln w="12700">
            <a:miter lim="400000"/>
          </a:ln>
        </p:spPr>
        <p:txBody>
          <a:bodyPr wrap="square" lIns="47025" tIns="47025" rIns="47025" bIns="47025" anchor="ctr">
            <a:spAutoFit/>
          </a:bodyPr>
          <a:lstStyle>
            <a:lvl1pPr algn="ctr">
              <a:defRPr sz="1200">
                <a:solidFill>
                  <a:srgbClr val="888888"/>
                </a:solidFill>
                <a:latin typeface="Calibri" panose="020F0502020204030204"/>
                <a:ea typeface="Calibri" panose="020F0502020204030204"/>
                <a:cs typeface="Calibri" panose="020F0502020204030204"/>
                <a:sym typeface="Calibri" panose="020F0502020204030204"/>
              </a:defRPr>
            </a:lvl1pPr>
          </a:lstStyle>
          <a:p>
            <a:r>
              <a:rPr lang="en-US" dirty="0"/>
              <a:t>INDUSTRY ORIENTED MINI </a:t>
            </a:r>
            <a:r>
              <a:rPr dirty="0"/>
              <a:t>PROJECT(202</a:t>
            </a:r>
            <a:r>
              <a:rPr lang="en-IN" dirty="0"/>
              <a:t>6</a:t>
            </a:r>
            <a:r>
              <a:rPr dirty="0"/>
              <a:t>-202</a:t>
            </a:r>
            <a:r>
              <a:rPr lang="en-US" dirty="0"/>
              <a:t>7</a:t>
            </a:r>
            <a:r>
              <a:rPr dirty="0"/>
              <a:t>),</a:t>
            </a:r>
            <a:r>
              <a:rPr lang="en-IN" dirty="0"/>
              <a:t> </a:t>
            </a:r>
            <a:r>
              <a:rPr dirty="0"/>
              <a:t>DEPARTMENT OF ECE</a:t>
            </a:r>
            <a:r>
              <a:rPr lang="en-IN" dirty="0"/>
              <a:t> /ECM</a:t>
            </a:r>
            <a:r>
              <a:rPr dirty="0"/>
              <a:t> - Anurag University</a:t>
            </a:r>
          </a:p>
        </p:txBody>
      </p:sp>
      <p:sp>
        <p:nvSpPr>
          <p:cNvPr id="4" name="TextBox 3">
            <a:extLst>
              <a:ext uri="{FF2B5EF4-FFF2-40B4-BE49-F238E27FC236}">
                <a16:creationId xmlns:a16="http://schemas.microsoft.com/office/drawing/2014/main" id="{44B712E0-7CF8-1E61-7B35-1DFBC124A751}"/>
              </a:ext>
            </a:extLst>
          </p:cNvPr>
          <p:cNvSpPr txBox="1"/>
          <p:nvPr/>
        </p:nvSpPr>
        <p:spPr>
          <a:xfrm>
            <a:off x="1107508" y="1230752"/>
            <a:ext cx="7053942" cy="332398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45719" tIns="45719" rIns="45719" bIns="45719" numCol="1" spcCol="38100" rtlCol="0" anchor="t">
            <a:spAutoFit/>
          </a:bodyPr>
          <a:lstStyle/>
          <a:p>
            <a:pPr marL="285750" indent="-285750">
              <a:buFont typeface="Wingdings" panose="05000000000000000000" pitchFamily="2" charset="2"/>
              <a:buChar char="Ø"/>
            </a:pPr>
            <a:r>
              <a:rPr lang="en-IN" b="1" dirty="0">
                <a:latin typeface="Times New Roman" panose="02020603050405020304" pitchFamily="18" charset="0"/>
                <a:cs typeface="Times New Roman" panose="02020603050405020304" pitchFamily="18" charset="0"/>
              </a:rPr>
              <a:t>Hardware Tools</a:t>
            </a:r>
            <a:endParaRPr lang="en-IN" dirty="0">
              <a:latin typeface="Times New Roman" panose="02020603050405020304" pitchFamily="18" charset="0"/>
              <a:cs typeface="Times New Roman" panose="02020603050405020304" pitchFamily="18" charset="0"/>
            </a:endParaRPr>
          </a:p>
          <a:p>
            <a:pPr lvl="0"/>
            <a:r>
              <a:rPr lang="en-IN" dirty="0">
                <a:latin typeface="Times New Roman" panose="02020603050405020304" pitchFamily="18" charset="0"/>
                <a:cs typeface="Times New Roman" panose="02020603050405020304" pitchFamily="18" charset="0"/>
              </a:rPr>
              <a:t>	1. ESP32</a:t>
            </a:r>
          </a:p>
          <a:p>
            <a:pPr lvl="0"/>
            <a:r>
              <a:rPr lang="en-IN" dirty="0">
                <a:latin typeface="Times New Roman" panose="02020603050405020304" pitchFamily="18" charset="0"/>
                <a:cs typeface="Times New Roman" panose="02020603050405020304" pitchFamily="18" charset="0"/>
              </a:rPr>
              <a:t>	2. </a:t>
            </a:r>
            <a:r>
              <a:rPr lang="en-IN" dirty="0" err="1">
                <a:latin typeface="Times New Roman" panose="02020603050405020304" pitchFamily="18" charset="0"/>
                <a:cs typeface="Times New Roman" panose="02020603050405020304" pitchFamily="18" charset="0"/>
              </a:rPr>
              <a:t>NodeMCU</a:t>
            </a:r>
            <a:endParaRPr lang="en-IN" dirty="0">
              <a:latin typeface="Times New Roman" panose="02020603050405020304" pitchFamily="18" charset="0"/>
              <a:cs typeface="Times New Roman" panose="02020603050405020304" pitchFamily="18" charset="0"/>
            </a:endParaRPr>
          </a:p>
          <a:p>
            <a:pPr lvl="0"/>
            <a:r>
              <a:rPr lang="en-IN" dirty="0">
                <a:latin typeface="Times New Roman" panose="02020603050405020304" pitchFamily="18" charset="0"/>
                <a:cs typeface="Times New Roman" panose="02020603050405020304" pitchFamily="18" charset="0"/>
              </a:rPr>
              <a:t>	3. Arduino Nano</a:t>
            </a:r>
          </a:p>
          <a:p>
            <a:pPr lvl="0"/>
            <a:r>
              <a:rPr lang="en-IN" dirty="0">
                <a:latin typeface="Times New Roman" panose="02020603050405020304" pitchFamily="18" charset="0"/>
                <a:cs typeface="Times New Roman" panose="02020603050405020304" pitchFamily="18" charset="0"/>
              </a:rPr>
              <a:t>	4. Ultrasonic Sensors (HC-SR04) </a:t>
            </a:r>
          </a:p>
          <a:p>
            <a:pPr lvl="0"/>
            <a:r>
              <a:rPr lang="en-IN" dirty="0">
                <a:latin typeface="Times New Roman" panose="02020603050405020304" pitchFamily="18" charset="0"/>
                <a:cs typeface="Times New Roman" panose="02020603050405020304" pitchFamily="18" charset="0"/>
              </a:rPr>
              <a:t>	5. LoRa Modules </a:t>
            </a:r>
          </a:p>
          <a:p>
            <a:pPr lvl="0"/>
            <a:r>
              <a:rPr lang="en-IN" dirty="0">
                <a:latin typeface="Times New Roman" panose="02020603050405020304" pitchFamily="18" charset="0"/>
                <a:cs typeface="Times New Roman" panose="02020603050405020304" pitchFamily="18" charset="0"/>
              </a:rPr>
              <a:t>	6. LCD Display </a:t>
            </a:r>
          </a:p>
          <a:p>
            <a:pPr lvl="0"/>
            <a:r>
              <a:rPr lang="en-IN" dirty="0">
                <a:latin typeface="Times New Roman" panose="02020603050405020304" pitchFamily="18" charset="0"/>
                <a:cs typeface="Times New Roman" panose="02020603050405020304" pitchFamily="18" charset="0"/>
              </a:rPr>
              <a:t>	7. LEDs &amp; Buzzer </a:t>
            </a:r>
          </a:p>
          <a:p>
            <a:pPr lvl="0"/>
            <a:endParaRPr lang="en-IN" dirty="0">
              <a:latin typeface="Times New Roman" panose="02020603050405020304" pitchFamily="18" charset="0"/>
              <a:cs typeface="Times New Roman" panose="02020603050405020304" pitchFamily="18" charset="0"/>
            </a:endParaRPr>
          </a:p>
          <a:p>
            <a:pPr marL="285750" lvl="0" indent="-285750">
              <a:buFont typeface="Wingdings" panose="05000000000000000000" pitchFamily="2" charset="2"/>
              <a:buChar char="Ø"/>
            </a:pPr>
            <a:r>
              <a:rPr lang="en-IN" b="1" dirty="0">
                <a:latin typeface="Times New Roman" panose="02020603050405020304" pitchFamily="18" charset="0"/>
                <a:cs typeface="Times New Roman" panose="02020603050405020304" pitchFamily="18" charset="0"/>
              </a:rPr>
              <a:t>Software Tools</a:t>
            </a:r>
            <a:endParaRPr lang="en-IN" dirty="0">
              <a:latin typeface="Times New Roman" panose="02020603050405020304" pitchFamily="18" charset="0"/>
              <a:cs typeface="Times New Roman" panose="02020603050405020304" pitchFamily="18" charset="0"/>
            </a:endParaRPr>
          </a:p>
          <a:p>
            <a:pPr lvl="0"/>
            <a:r>
              <a:rPr lang="en-IN" dirty="0">
                <a:latin typeface="Times New Roman" panose="02020603050405020304" pitchFamily="18" charset="0"/>
                <a:cs typeface="Times New Roman" panose="02020603050405020304" pitchFamily="18" charset="0"/>
              </a:rPr>
              <a:t>	1. Arduino IDE </a:t>
            </a:r>
          </a:p>
          <a:p>
            <a:pPr lvl="0"/>
            <a:endParaRPr lang="en-IN"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IN" b="1" dirty="0">
                <a:latin typeface="Times New Roman" panose="02020603050405020304" pitchFamily="18" charset="0"/>
                <a:cs typeface="Times New Roman" panose="02020603050405020304" pitchFamily="18" charset="0"/>
              </a:rPr>
              <a:t>Dataset</a:t>
            </a:r>
            <a:endParaRPr lang="en-IN" dirty="0">
              <a:latin typeface="Times New Roman" panose="02020603050405020304" pitchFamily="18" charset="0"/>
              <a:cs typeface="Times New Roman" panose="02020603050405020304" pitchFamily="18" charset="0"/>
            </a:endParaRPr>
          </a:p>
          <a:p>
            <a:pPr lvl="0"/>
            <a:r>
              <a:rPr lang="en-IN" dirty="0">
                <a:latin typeface="Times New Roman" panose="02020603050405020304" pitchFamily="18" charset="0"/>
                <a:cs typeface="Times New Roman" panose="02020603050405020304" pitchFamily="18" charset="0"/>
              </a:rPr>
              <a:t>	1. Real-time sensor data used</a:t>
            </a:r>
          </a:p>
          <a:p>
            <a:r>
              <a:rPr lang="en-IN" dirty="0"/>
              <a:t> </a:t>
            </a:r>
          </a:p>
        </p:txBody>
      </p:sp>
    </p:spTree>
    <p:extLst>
      <p:ext uri="{BB962C8B-B14F-4D97-AF65-F5344CB8AC3E}">
        <p14:creationId xmlns:p14="http://schemas.microsoft.com/office/powerpoint/2010/main" val="1976476702"/>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260A33-2B33-26C8-52FD-DC1173526C55}"/>
            </a:ext>
          </a:extLst>
        </p:cNvPr>
        <p:cNvGrpSpPr/>
        <p:nvPr/>
      </p:nvGrpSpPr>
      <p:grpSpPr>
        <a:xfrm>
          <a:off x="0" y="0"/>
          <a:ext cx="0" cy="0"/>
          <a:chOff x="0" y="0"/>
          <a:chExt cx="0" cy="0"/>
        </a:xfrm>
      </p:grpSpPr>
      <p:sp>
        <p:nvSpPr>
          <p:cNvPr id="70" name="Google Shape;119;p1">
            <a:extLst>
              <a:ext uri="{FF2B5EF4-FFF2-40B4-BE49-F238E27FC236}">
                <a16:creationId xmlns:a16="http://schemas.microsoft.com/office/drawing/2014/main" id="{C389CD66-0618-FAA3-FAAF-073B31CAAD9D}"/>
              </a:ext>
            </a:extLst>
          </p:cNvPr>
          <p:cNvSpPr txBox="1">
            <a:spLocks noGrp="1"/>
          </p:cNvSpPr>
          <p:nvPr>
            <p:ph type="sldNum" sz="quarter" idx="2"/>
          </p:nvPr>
        </p:nvSpPr>
        <p:spPr>
          <a:xfrm>
            <a:off x="8502807" y="4787809"/>
            <a:ext cx="183992" cy="250916"/>
          </a:xfrm>
          <a:prstGeom prst="rect">
            <a:avLst/>
          </a:prstGeom>
        </p:spPr>
        <p:txBody>
          <a:bodyPr/>
          <a:lstStyle>
            <a:lvl1pPr>
              <a:defRPr>
                <a:solidFill>
                  <a:srgbClr val="000000"/>
                </a:solidFill>
              </a:defRPr>
            </a:lvl1pPr>
          </a:lstStyle>
          <a:p>
            <a:fld id="{86CB4B4D-7CA3-9044-876B-883B54F8677D}" type="slidenum">
              <a:rPr/>
              <a:t>11</a:t>
            </a:fld>
            <a:endParaRPr/>
          </a:p>
        </p:txBody>
      </p:sp>
      <p:sp>
        <p:nvSpPr>
          <p:cNvPr id="3" name="Footer Placeholder 4">
            <a:extLst>
              <a:ext uri="{FF2B5EF4-FFF2-40B4-BE49-F238E27FC236}">
                <a16:creationId xmlns:a16="http://schemas.microsoft.com/office/drawing/2014/main" id="{76978409-4EA6-D7CA-B098-8C3DFD76DA1A}"/>
              </a:ext>
            </a:extLst>
          </p:cNvPr>
          <p:cNvSpPr txBox="1"/>
          <p:nvPr/>
        </p:nvSpPr>
        <p:spPr>
          <a:xfrm>
            <a:off x="1449990" y="4764397"/>
            <a:ext cx="6127428" cy="279634"/>
          </a:xfrm>
          <a:prstGeom prst="rect">
            <a:avLst/>
          </a:prstGeom>
          <a:ln w="12700">
            <a:miter lim="400000"/>
          </a:ln>
        </p:spPr>
        <p:txBody>
          <a:bodyPr wrap="square" lIns="47025" tIns="47025" rIns="47025" bIns="47025" anchor="ctr">
            <a:spAutoFit/>
          </a:bodyPr>
          <a:lstStyle>
            <a:lvl1pPr algn="ctr">
              <a:defRPr sz="1200">
                <a:solidFill>
                  <a:srgbClr val="888888"/>
                </a:solidFill>
                <a:latin typeface="Calibri" panose="020F0502020204030204"/>
                <a:ea typeface="Calibri" panose="020F0502020204030204"/>
                <a:cs typeface="Calibri" panose="020F0502020204030204"/>
                <a:sym typeface="Calibri" panose="020F0502020204030204"/>
              </a:defRPr>
            </a:lvl1pPr>
          </a:lstStyle>
          <a:p>
            <a:r>
              <a:rPr lang="en-US" dirty="0"/>
              <a:t>INDUSTRY ORIENTED MINI </a:t>
            </a:r>
            <a:r>
              <a:rPr dirty="0"/>
              <a:t>PROJECT(202</a:t>
            </a:r>
            <a:r>
              <a:rPr lang="en-IN" dirty="0"/>
              <a:t>6</a:t>
            </a:r>
            <a:r>
              <a:rPr dirty="0"/>
              <a:t>-202</a:t>
            </a:r>
            <a:r>
              <a:rPr lang="en-US" dirty="0"/>
              <a:t>7</a:t>
            </a:r>
            <a:r>
              <a:rPr dirty="0"/>
              <a:t>),</a:t>
            </a:r>
            <a:r>
              <a:rPr lang="en-IN" dirty="0"/>
              <a:t> </a:t>
            </a:r>
            <a:r>
              <a:rPr dirty="0"/>
              <a:t>DEPARTMENT OF ECE</a:t>
            </a:r>
            <a:r>
              <a:rPr lang="en-IN" dirty="0"/>
              <a:t> /ECM</a:t>
            </a:r>
            <a:r>
              <a:rPr dirty="0"/>
              <a:t> - Anurag University</a:t>
            </a:r>
          </a:p>
        </p:txBody>
      </p:sp>
      <p:pic>
        <p:nvPicPr>
          <p:cNvPr id="9" name="Picture 8">
            <a:extLst>
              <a:ext uri="{FF2B5EF4-FFF2-40B4-BE49-F238E27FC236}">
                <a16:creationId xmlns:a16="http://schemas.microsoft.com/office/drawing/2014/main" id="{422238E2-2273-9249-078E-1E0398677A10}"/>
              </a:ext>
            </a:extLst>
          </p:cNvPr>
          <p:cNvPicPr>
            <a:picLocks noChangeAspect="1"/>
          </p:cNvPicPr>
          <p:nvPr/>
        </p:nvPicPr>
        <p:blipFill>
          <a:blip r:embed="rId3">
            <a:extLst>
              <a:ext uri="{28A0092B-C50C-407E-A947-70E740481C1C}">
                <a14:useLocalDpi xmlns:a14="http://schemas.microsoft.com/office/drawing/2010/main" val="0"/>
              </a:ext>
            </a:extLst>
          </a:blip>
          <a:srcRect t="5307" b="7369"/>
          <a:stretch>
            <a:fillRect/>
          </a:stretch>
        </p:blipFill>
        <p:spPr>
          <a:xfrm>
            <a:off x="1053624" y="759218"/>
            <a:ext cx="6920159" cy="4028591"/>
          </a:xfrm>
          <a:prstGeom prst="rect">
            <a:avLst/>
          </a:prstGeom>
        </p:spPr>
      </p:pic>
      <p:sp>
        <p:nvSpPr>
          <p:cNvPr id="10" name="Title 1">
            <a:extLst>
              <a:ext uri="{FF2B5EF4-FFF2-40B4-BE49-F238E27FC236}">
                <a16:creationId xmlns:a16="http://schemas.microsoft.com/office/drawing/2014/main" id="{B0E0839B-2261-47DF-0A2B-C3E8FCD9F82C}"/>
              </a:ext>
            </a:extLst>
          </p:cNvPr>
          <p:cNvSpPr txBox="1">
            <a:spLocks noGrp="1"/>
          </p:cNvSpPr>
          <p:nvPr>
            <p:ph type="title"/>
          </p:nvPr>
        </p:nvSpPr>
        <p:spPr>
          <a:xfrm>
            <a:off x="285839" y="99469"/>
            <a:ext cx="7989911" cy="716844"/>
          </a:xfrm>
          <a:prstGeom prst="rect">
            <a:avLst/>
          </a:prstGeom>
        </p:spPr>
        <p:txBody>
          <a:bodyPr/>
          <a:lstStyle>
            <a:lvl1pPr>
              <a:defRPr sz="2800" b="1">
                <a:latin typeface="Times New Roman" panose="02020603050405020304"/>
                <a:ea typeface="Times New Roman" panose="02020603050405020304"/>
                <a:cs typeface="Times New Roman" panose="02020603050405020304"/>
                <a:sym typeface="Times New Roman" panose="02020603050405020304"/>
              </a:defRPr>
            </a:lvl1pPr>
          </a:lstStyle>
          <a:p>
            <a:r>
              <a:rPr lang="en-US" dirty="0">
                <a:latin typeface="Times New Roman" panose="02020603050405020304" pitchFamily="18" charset="0"/>
                <a:cs typeface="Times New Roman" panose="02020603050405020304" pitchFamily="18" charset="0"/>
              </a:rPr>
              <a:t>Block Diagram</a:t>
            </a:r>
          </a:p>
        </p:txBody>
      </p:sp>
    </p:spTree>
    <p:extLst>
      <p:ext uri="{BB962C8B-B14F-4D97-AF65-F5344CB8AC3E}">
        <p14:creationId xmlns:p14="http://schemas.microsoft.com/office/powerpoint/2010/main" val="2685868900"/>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611CAA-4856-5745-6851-A2A0517B18A1}"/>
            </a:ext>
          </a:extLst>
        </p:cNvPr>
        <p:cNvGrpSpPr/>
        <p:nvPr/>
      </p:nvGrpSpPr>
      <p:grpSpPr>
        <a:xfrm>
          <a:off x="0" y="0"/>
          <a:ext cx="0" cy="0"/>
          <a:chOff x="0" y="0"/>
          <a:chExt cx="0" cy="0"/>
        </a:xfrm>
      </p:grpSpPr>
      <p:sp>
        <p:nvSpPr>
          <p:cNvPr id="70" name="Google Shape;119;p1">
            <a:extLst>
              <a:ext uri="{FF2B5EF4-FFF2-40B4-BE49-F238E27FC236}">
                <a16:creationId xmlns:a16="http://schemas.microsoft.com/office/drawing/2014/main" id="{79B53F0E-6E85-4AF3-4756-20C52CD9F920}"/>
              </a:ext>
            </a:extLst>
          </p:cNvPr>
          <p:cNvSpPr txBox="1">
            <a:spLocks noGrp="1"/>
          </p:cNvSpPr>
          <p:nvPr>
            <p:ph type="sldNum" sz="quarter" idx="2"/>
          </p:nvPr>
        </p:nvSpPr>
        <p:spPr>
          <a:xfrm>
            <a:off x="8502807" y="4787809"/>
            <a:ext cx="183992" cy="250916"/>
          </a:xfrm>
          <a:prstGeom prst="rect">
            <a:avLst/>
          </a:prstGeom>
        </p:spPr>
        <p:txBody>
          <a:bodyPr/>
          <a:lstStyle>
            <a:lvl1pPr>
              <a:defRPr>
                <a:solidFill>
                  <a:srgbClr val="000000"/>
                </a:solidFill>
              </a:defRPr>
            </a:lvl1pPr>
          </a:lstStyle>
          <a:p>
            <a:fld id="{86CB4B4D-7CA3-9044-876B-883B54F8677D}" type="slidenum">
              <a:rPr/>
              <a:t>12</a:t>
            </a:fld>
            <a:endParaRPr/>
          </a:p>
        </p:txBody>
      </p:sp>
      <p:sp>
        <p:nvSpPr>
          <p:cNvPr id="3" name="Footer Placeholder 4">
            <a:extLst>
              <a:ext uri="{FF2B5EF4-FFF2-40B4-BE49-F238E27FC236}">
                <a16:creationId xmlns:a16="http://schemas.microsoft.com/office/drawing/2014/main" id="{673CDD86-88B7-7CCF-4DA6-A13552C5FAFA}"/>
              </a:ext>
            </a:extLst>
          </p:cNvPr>
          <p:cNvSpPr txBox="1"/>
          <p:nvPr/>
        </p:nvSpPr>
        <p:spPr>
          <a:xfrm>
            <a:off x="1449990" y="4764397"/>
            <a:ext cx="6127428" cy="279634"/>
          </a:xfrm>
          <a:prstGeom prst="rect">
            <a:avLst/>
          </a:prstGeom>
          <a:ln w="12700">
            <a:miter lim="400000"/>
          </a:ln>
        </p:spPr>
        <p:txBody>
          <a:bodyPr wrap="square" lIns="47025" tIns="47025" rIns="47025" bIns="47025" anchor="ctr">
            <a:spAutoFit/>
          </a:bodyPr>
          <a:lstStyle>
            <a:lvl1pPr algn="ctr">
              <a:defRPr sz="1200">
                <a:solidFill>
                  <a:srgbClr val="888888"/>
                </a:solidFill>
                <a:latin typeface="Calibri" panose="020F0502020204030204"/>
                <a:ea typeface="Calibri" panose="020F0502020204030204"/>
                <a:cs typeface="Calibri" panose="020F0502020204030204"/>
                <a:sym typeface="Calibri" panose="020F0502020204030204"/>
              </a:defRPr>
            </a:lvl1pPr>
          </a:lstStyle>
          <a:p>
            <a:r>
              <a:rPr lang="en-US" dirty="0"/>
              <a:t>INDUSTRY ORIENTED MINI </a:t>
            </a:r>
            <a:r>
              <a:rPr dirty="0"/>
              <a:t>PROJECT(202</a:t>
            </a:r>
            <a:r>
              <a:rPr lang="en-IN" dirty="0"/>
              <a:t>6</a:t>
            </a:r>
            <a:r>
              <a:rPr dirty="0"/>
              <a:t>-202</a:t>
            </a:r>
            <a:r>
              <a:rPr lang="en-US" dirty="0"/>
              <a:t>7</a:t>
            </a:r>
            <a:r>
              <a:rPr dirty="0"/>
              <a:t>),</a:t>
            </a:r>
            <a:r>
              <a:rPr lang="en-IN" dirty="0"/>
              <a:t> </a:t>
            </a:r>
            <a:r>
              <a:rPr dirty="0"/>
              <a:t>DEPARTMENT OF ECE</a:t>
            </a:r>
            <a:r>
              <a:rPr lang="en-IN" dirty="0"/>
              <a:t> /ECM</a:t>
            </a:r>
            <a:r>
              <a:rPr dirty="0"/>
              <a:t> - Anurag University</a:t>
            </a:r>
          </a:p>
        </p:txBody>
      </p:sp>
      <p:sp>
        <p:nvSpPr>
          <p:cNvPr id="10" name="Title 1">
            <a:extLst>
              <a:ext uri="{FF2B5EF4-FFF2-40B4-BE49-F238E27FC236}">
                <a16:creationId xmlns:a16="http://schemas.microsoft.com/office/drawing/2014/main" id="{88E797B2-203E-32CF-E868-6922A30A2608}"/>
              </a:ext>
            </a:extLst>
          </p:cNvPr>
          <p:cNvSpPr txBox="1">
            <a:spLocks noGrp="1"/>
          </p:cNvSpPr>
          <p:nvPr>
            <p:ph type="title"/>
          </p:nvPr>
        </p:nvSpPr>
        <p:spPr>
          <a:xfrm>
            <a:off x="285839" y="99469"/>
            <a:ext cx="7989911" cy="716844"/>
          </a:xfrm>
          <a:prstGeom prst="rect">
            <a:avLst/>
          </a:prstGeom>
        </p:spPr>
        <p:txBody>
          <a:bodyPr/>
          <a:lstStyle>
            <a:lvl1pPr>
              <a:defRPr sz="2800" b="1">
                <a:latin typeface="Times New Roman" panose="02020603050405020304"/>
                <a:ea typeface="Times New Roman" panose="02020603050405020304"/>
                <a:cs typeface="Times New Roman" panose="02020603050405020304"/>
                <a:sym typeface="Times New Roman" panose="02020603050405020304"/>
              </a:defRPr>
            </a:lvl1pPr>
          </a:lstStyle>
          <a:p>
            <a:r>
              <a:rPr lang="en-US" dirty="0">
                <a:latin typeface="Times New Roman" panose="02020603050405020304" pitchFamily="18" charset="0"/>
                <a:cs typeface="Times New Roman" panose="02020603050405020304" pitchFamily="18" charset="0"/>
              </a:rPr>
              <a:t>Flow Diagram</a:t>
            </a:r>
          </a:p>
        </p:txBody>
      </p:sp>
      <p:pic>
        <p:nvPicPr>
          <p:cNvPr id="4" name="Picture 3">
            <a:extLst>
              <a:ext uri="{FF2B5EF4-FFF2-40B4-BE49-F238E27FC236}">
                <a16:creationId xmlns:a16="http://schemas.microsoft.com/office/drawing/2014/main" id="{A9881EA4-4098-9991-8A0D-BF1C1B90BB0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77610" y="716273"/>
            <a:ext cx="6072187" cy="4048124"/>
          </a:xfrm>
          <a:prstGeom prst="rect">
            <a:avLst/>
          </a:prstGeom>
        </p:spPr>
      </p:pic>
    </p:spTree>
    <p:extLst>
      <p:ext uri="{BB962C8B-B14F-4D97-AF65-F5344CB8AC3E}">
        <p14:creationId xmlns:p14="http://schemas.microsoft.com/office/powerpoint/2010/main" val="4184061926"/>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E5938-2964-A013-6748-473122A938D4}"/>
            </a:ext>
          </a:extLst>
        </p:cNvPr>
        <p:cNvGrpSpPr/>
        <p:nvPr/>
      </p:nvGrpSpPr>
      <p:grpSpPr>
        <a:xfrm>
          <a:off x="0" y="0"/>
          <a:ext cx="0" cy="0"/>
          <a:chOff x="0" y="0"/>
          <a:chExt cx="0" cy="0"/>
        </a:xfrm>
      </p:grpSpPr>
      <p:sp>
        <p:nvSpPr>
          <p:cNvPr id="70" name="Google Shape;119;p1">
            <a:extLst>
              <a:ext uri="{FF2B5EF4-FFF2-40B4-BE49-F238E27FC236}">
                <a16:creationId xmlns:a16="http://schemas.microsoft.com/office/drawing/2014/main" id="{88CF2548-C5FC-8980-DEE0-6598524FE52E}"/>
              </a:ext>
            </a:extLst>
          </p:cNvPr>
          <p:cNvSpPr txBox="1">
            <a:spLocks noGrp="1"/>
          </p:cNvSpPr>
          <p:nvPr>
            <p:ph type="sldNum" sz="quarter" idx="2"/>
          </p:nvPr>
        </p:nvSpPr>
        <p:spPr>
          <a:xfrm>
            <a:off x="8502807" y="4787809"/>
            <a:ext cx="183992" cy="250916"/>
          </a:xfrm>
          <a:prstGeom prst="rect">
            <a:avLst/>
          </a:prstGeom>
        </p:spPr>
        <p:txBody>
          <a:bodyPr/>
          <a:lstStyle>
            <a:lvl1pPr>
              <a:defRPr>
                <a:solidFill>
                  <a:srgbClr val="000000"/>
                </a:solidFill>
              </a:defRPr>
            </a:lvl1pPr>
          </a:lstStyle>
          <a:p>
            <a:fld id="{86CB4B4D-7CA3-9044-876B-883B54F8677D}" type="slidenum">
              <a:rPr/>
              <a:t>13</a:t>
            </a:fld>
            <a:endParaRPr/>
          </a:p>
        </p:txBody>
      </p:sp>
      <p:sp>
        <p:nvSpPr>
          <p:cNvPr id="3" name="Footer Placeholder 4">
            <a:extLst>
              <a:ext uri="{FF2B5EF4-FFF2-40B4-BE49-F238E27FC236}">
                <a16:creationId xmlns:a16="http://schemas.microsoft.com/office/drawing/2014/main" id="{62C2BAB2-0C0D-3488-8A08-CA0865FF844C}"/>
              </a:ext>
            </a:extLst>
          </p:cNvPr>
          <p:cNvSpPr txBox="1"/>
          <p:nvPr/>
        </p:nvSpPr>
        <p:spPr>
          <a:xfrm>
            <a:off x="1449990" y="4764397"/>
            <a:ext cx="6127428" cy="279634"/>
          </a:xfrm>
          <a:prstGeom prst="rect">
            <a:avLst/>
          </a:prstGeom>
          <a:ln w="12700">
            <a:miter lim="400000"/>
          </a:ln>
        </p:spPr>
        <p:txBody>
          <a:bodyPr wrap="square" lIns="47025" tIns="47025" rIns="47025" bIns="47025" anchor="ctr">
            <a:spAutoFit/>
          </a:bodyPr>
          <a:lstStyle>
            <a:lvl1pPr algn="ctr">
              <a:defRPr sz="1200">
                <a:solidFill>
                  <a:srgbClr val="888888"/>
                </a:solidFill>
                <a:latin typeface="Calibri" panose="020F0502020204030204"/>
                <a:ea typeface="Calibri" panose="020F0502020204030204"/>
                <a:cs typeface="Calibri" panose="020F0502020204030204"/>
                <a:sym typeface="Calibri" panose="020F0502020204030204"/>
              </a:defRPr>
            </a:lvl1pPr>
          </a:lstStyle>
          <a:p>
            <a:r>
              <a:rPr lang="en-US" dirty="0"/>
              <a:t>INDUSTRY ORIENTED MINI </a:t>
            </a:r>
            <a:r>
              <a:rPr dirty="0"/>
              <a:t>PROJECT(202</a:t>
            </a:r>
            <a:r>
              <a:rPr lang="en-IN" dirty="0"/>
              <a:t>6</a:t>
            </a:r>
            <a:r>
              <a:rPr dirty="0"/>
              <a:t>-202</a:t>
            </a:r>
            <a:r>
              <a:rPr lang="en-US" dirty="0"/>
              <a:t>7</a:t>
            </a:r>
            <a:r>
              <a:rPr dirty="0"/>
              <a:t>),</a:t>
            </a:r>
            <a:r>
              <a:rPr lang="en-IN" dirty="0"/>
              <a:t> </a:t>
            </a:r>
            <a:r>
              <a:rPr dirty="0"/>
              <a:t>DEPARTMENT OF ECE</a:t>
            </a:r>
            <a:r>
              <a:rPr lang="en-IN" dirty="0"/>
              <a:t> /ECM</a:t>
            </a:r>
            <a:r>
              <a:rPr dirty="0"/>
              <a:t> - Anurag University</a:t>
            </a:r>
          </a:p>
        </p:txBody>
      </p:sp>
      <p:sp>
        <p:nvSpPr>
          <p:cNvPr id="10" name="Title 1">
            <a:extLst>
              <a:ext uri="{FF2B5EF4-FFF2-40B4-BE49-F238E27FC236}">
                <a16:creationId xmlns:a16="http://schemas.microsoft.com/office/drawing/2014/main" id="{8418F5EF-8982-D6C5-BD1C-50B3D760D816}"/>
              </a:ext>
            </a:extLst>
          </p:cNvPr>
          <p:cNvSpPr txBox="1">
            <a:spLocks noGrp="1"/>
          </p:cNvSpPr>
          <p:nvPr>
            <p:ph type="title"/>
          </p:nvPr>
        </p:nvSpPr>
        <p:spPr>
          <a:xfrm>
            <a:off x="285839" y="99469"/>
            <a:ext cx="7989911" cy="716844"/>
          </a:xfrm>
          <a:prstGeom prst="rect">
            <a:avLst/>
          </a:prstGeom>
        </p:spPr>
        <p:txBody>
          <a:bodyPr/>
          <a:lstStyle>
            <a:lvl1pPr>
              <a:defRPr sz="2800" b="1">
                <a:latin typeface="Times New Roman" panose="02020603050405020304"/>
                <a:ea typeface="Times New Roman" panose="02020603050405020304"/>
                <a:cs typeface="Times New Roman" panose="02020603050405020304"/>
                <a:sym typeface="Times New Roman" panose="02020603050405020304"/>
              </a:defRPr>
            </a:lvl1pPr>
          </a:lstStyle>
          <a:p>
            <a:r>
              <a:rPr lang="en-US" dirty="0">
                <a:latin typeface="Times New Roman" panose="02020603050405020304" pitchFamily="18" charset="0"/>
                <a:cs typeface="Times New Roman" panose="02020603050405020304" pitchFamily="18" charset="0"/>
              </a:rPr>
              <a:t>Flow Diagram</a:t>
            </a:r>
          </a:p>
        </p:txBody>
      </p:sp>
      <p:pic>
        <p:nvPicPr>
          <p:cNvPr id="5" name="Picture 4">
            <a:extLst>
              <a:ext uri="{FF2B5EF4-FFF2-40B4-BE49-F238E27FC236}">
                <a16:creationId xmlns:a16="http://schemas.microsoft.com/office/drawing/2014/main" id="{C0C5414E-AC5D-9821-63FC-10B2FD6C6A79}"/>
              </a:ext>
            </a:extLst>
          </p:cNvPr>
          <p:cNvPicPr>
            <a:picLocks noChangeAspect="1"/>
          </p:cNvPicPr>
          <p:nvPr/>
        </p:nvPicPr>
        <p:blipFill>
          <a:blip r:embed="rId3">
            <a:extLst>
              <a:ext uri="{28A0092B-C50C-407E-A947-70E740481C1C}">
                <a14:useLocalDpi xmlns:a14="http://schemas.microsoft.com/office/drawing/2010/main" val="0"/>
              </a:ext>
            </a:extLst>
          </a:blip>
          <a:srcRect b="15615"/>
          <a:stretch>
            <a:fillRect/>
          </a:stretch>
        </p:blipFill>
        <p:spPr>
          <a:xfrm>
            <a:off x="1041367" y="699555"/>
            <a:ext cx="7061265" cy="3972458"/>
          </a:xfrm>
          <a:prstGeom prst="rect">
            <a:avLst/>
          </a:prstGeom>
        </p:spPr>
      </p:pic>
    </p:spTree>
    <p:extLst>
      <p:ext uri="{BB962C8B-B14F-4D97-AF65-F5344CB8AC3E}">
        <p14:creationId xmlns:p14="http://schemas.microsoft.com/office/powerpoint/2010/main" val="314572517"/>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2B399-BB25-BED1-6D1D-41DD260D39C6}"/>
            </a:ext>
          </a:extLst>
        </p:cNvPr>
        <p:cNvGrpSpPr/>
        <p:nvPr/>
      </p:nvGrpSpPr>
      <p:grpSpPr>
        <a:xfrm>
          <a:off x="0" y="0"/>
          <a:ext cx="0" cy="0"/>
          <a:chOff x="0" y="0"/>
          <a:chExt cx="0" cy="0"/>
        </a:xfrm>
      </p:grpSpPr>
      <p:sp>
        <p:nvSpPr>
          <p:cNvPr id="68" name="Title 1">
            <a:extLst>
              <a:ext uri="{FF2B5EF4-FFF2-40B4-BE49-F238E27FC236}">
                <a16:creationId xmlns:a16="http://schemas.microsoft.com/office/drawing/2014/main" id="{E2E2199C-2670-FBD8-B7B5-FE46B52BB40F}"/>
              </a:ext>
            </a:extLst>
          </p:cNvPr>
          <p:cNvSpPr txBox="1">
            <a:spLocks noGrp="1"/>
          </p:cNvSpPr>
          <p:nvPr>
            <p:ph type="title"/>
          </p:nvPr>
        </p:nvSpPr>
        <p:spPr>
          <a:xfrm>
            <a:off x="171539" y="327380"/>
            <a:ext cx="7989911" cy="716844"/>
          </a:xfrm>
          <a:prstGeom prst="rect">
            <a:avLst/>
          </a:prstGeom>
        </p:spPr>
        <p:txBody>
          <a:bodyPr/>
          <a:lstStyle>
            <a:lvl1pPr>
              <a:defRPr sz="2800" b="1">
                <a:latin typeface="Times New Roman" panose="02020603050405020304"/>
                <a:ea typeface="Times New Roman" panose="02020603050405020304"/>
                <a:cs typeface="Times New Roman" panose="02020603050405020304"/>
                <a:sym typeface="Times New Roman" panose="02020603050405020304"/>
              </a:defRPr>
            </a:lvl1pPr>
          </a:lstStyle>
          <a:p>
            <a:r>
              <a:rPr lang="en-US" dirty="0">
                <a:latin typeface="Times New Roman" panose="02020603050405020304" pitchFamily="18" charset="0"/>
                <a:cs typeface="Times New Roman" panose="02020603050405020304" pitchFamily="18" charset="0"/>
              </a:rPr>
              <a:t>References</a:t>
            </a:r>
          </a:p>
        </p:txBody>
      </p:sp>
      <p:sp>
        <p:nvSpPr>
          <p:cNvPr id="70" name="Google Shape;119;p1">
            <a:extLst>
              <a:ext uri="{FF2B5EF4-FFF2-40B4-BE49-F238E27FC236}">
                <a16:creationId xmlns:a16="http://schemas.microsoft.com/office/drawing/2014/main" id="{25D4F5CB-71F2-56B5-31D2-A6D51424AC0F}"/>
              </a:ext>
            </a:extLst>
          </p:cNvPr>
          <p:cNvSpPr txBox="1">
            <a:spLocks noGrp="1"/>
          </p:cNvSpPr>
          <p:nvPr>
            <p:ph type="sldNum" sz="quarter" idx="2"/>
          </p:nvPr>
        </p:nvSpPr>
        <p:spPr>
          <a:xfrm>
            <a:off x="8502807" y="4787809"/>
            <a:ext cx="183992" cy="250916"/>
          </a:xfrm>
          <a:prstGeom prst="rect">
            <a:avLst/>
          </a:prstGeom>
        </p:spPr>
        <p:txBody>
          <a:bodyPr/>
          <a:lstStyle>
            <a:lvl1pPr>
              <a:defRPr>
                <a:solidFill>
                  <a:srgbClr val="000000"/>
                </a:solidFill>
              </a:defRPr>
            </a:lvl1pPr>
          </a:lstStyle>
          <a:p>
            <a:fld id="{86CB4B4D-7CA3-9044-876B-883B54F8677D}" type="slidenum">
              <a:rPr/>
              <a:t>14</a:t>
            </a:fld>
            <a:endParaRPr/>
          </a:p>
        </p:txBody>
      </p:sp>
      <p:sp>
        <p:nvSpPr>
          <p:cNvPr id="3" name="Footer Placeholder 4">
            <a:extLst>
              <a:ext uri="{FF2B5EF4-FFF2-40B4-BE49-F238E27FC236}">
                <a16:creationId xmlns:a16="http://schemas.microsoft.com/office/drawing/2014/main" id="{65C36739-EFF8-1DE9-ED4F-39006B9D69F3}"/>
              </a:ext>
            </a:extLst>
          </p:cNvPr>
          <p:cNvSpPr txBox="1"/>
          <p:nvPr/>
        </p:nvSpPr>
        <p:spPr>
          <a:xfrm>
            <a:off x="1449990" y="4764397"/>
            <a:ext cx="6127428" cy="279634"/>
          </a:xfrm>
          <a:prstGeom prst="rect">
            <a:avLst/>
          </a:prstGeom>
          <a:ln w="12700">
            <a:miter lim="400000"/>
          </a:ln>
        </p:spPr>
        <p:txBody>
          <a:bodyPr wrap="square" lIns="47025" tIns="47025" rIns="47025" bIns="47025" anchor="ctr">
            <a:spAutoFit/>
          </a:bodyPr>
          <a:lstStyle>
            <a:lvl1pPr algn="ctr">
              <a:defRPr sz="1200">
                <a:solidFill>
                  <a:srgbClr val="888888"/>
                </a:solidFill>
                <a:latin typeface="Calibri" panose="020F0502020204030204"/>
                <a:ea typeface="Calibri" panose="020F0502020204030204"/>
                <a:cs typeface="Calibri" panose="020F0502020204030204"/>
                <a:sym typeface="Calibri" panose="020F0502020204030204"/>
              </a:defRPr>
            </a:lvl1pPr>
          </a:lstStyle>
          <a:p>
            <a:r>
              <a:rPr lang="en-US" dirty="0"/>
              <a:t>INDUSTRY ORIENTED MINI </a:t>
            </a:r>
            <a:r>
              <a:rPr dirty="0"/>
              <a:t>PROJECT(202</a:t>
            </a:r>
            <a:r>
              <a:rPr lang="en-IN" dirty="0"/>
              <a:t>6</a:t>
            </a:r>
            <a:r>
              <a:rPr dirty="0"/>
              <a:t>-202</a:t>
            </a:r>
            <a:r>
              <a:rPr lang="en-US" dirty="0"/>
              <a:t>7</a:t>
            </a:r>
            <a:r>
              <a:rPr dirty="0"/>
              <a:t>),</a:t>
            </a:r>
            <a:r>
              <a:rPr lang="en-IN" dirty="0"/>
              <a:t> </a:t>
            </a:r>
            <a:r>
              <a:rPr dirty="0"/>
              <a:t>DEPARTMENT OF ECE</a:t>
            </a:r>
            <a:r>
              <a:rPr lang="en-IN" dirty="0"/>
              <a:t> /ECM</a:t>
            </a:r>
            <a:r>
              <a:rPr dirty="0"/>
              <a:t> - Anurag University</a:t>
            </a:r>
          </a:p>
        </p:txBody>
      </p:sp>
      <p:sp>
        <p:nvSpPr>
          <p:cNvPr id="5" name="TextBox 4">
            <a:extLst>
              <a:ext uri="{FF2B5EF4-FFF2-40B4-BE49-F238E27FC236}">
                <a16:creationId xmlns:a16="http://schemas.microsoft.com/office/drawing/2014/main" id="{F7A32A86-55DB-B2E4-384E-23712819CFFD}"/>
              </a:ext>
            </a:extLst>
          </p:cNvPr>
          <p:cNvSpPr txBox="1"/>
          <p:nvPr/>
        </p:nvSpPr>
        <p:spPr>
          <a:xfrm>
            <a:off x="1016167" y="1279614"/>
            <a:ext cx="6739045" cy="2031323"/>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square" lIns="45719" tIns="45719" rIns="45719" bIns="45719" numCol="1" spcCol="38100" rtlCol="0" anchor="t">
            <a:spAutoFit/>
          </a:bodyPr>
          <a:lstStyle/>
          <a:p>
            <a:pPr marL="285750" indent="-285750" algn="jus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Kartik Venkata Mutya and Sandeep Rudra, “Smart Road Safety and Vehicle Accident Prevention System for Mountain Roads,” </a:t>
            </a:r>
            <a:r>
              <a:rPr lang="en-IN" i="1" dirty="0">
                <a:latin typeface="Times New Roman" panose="02020603050405020304" pitchFamily="18" charset="0"/>
                <a:cs typeface="Times New Roman" panose="02020603050405020304" pitchFamily="18" charset="0"/>
              </a:rPr>
              <a:t>International Research Journal of Engineering and Technology (IRJET)</a:t>
            </a:r>
            <a:r>
              <a:rPr lang="en-IN" dirty="0">
                <a:latin typeface="Times New Roman" panose="02020603050405020304" pitchFamily="18" charset="0"/>
                <a:cs typeface="Times New Roman" panose="02020603050405020304" pitchFamily="18" charset="0"/>
              </a:rPr>
              <a:t>, vol. 7, no. 5, pp. 1–5, 2020, DOI: N/A,</a:t>
            </a:r>
          </a:p>
          <a:p>
            <a:pPr marL="285750" indent="-285750" algn="just">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P. Deepika, S. Sathya Priya, C. Priya, and M. Surya, “Smart Secure and Warning System in Hairpin Bends at Hill Stations Based on ZigBee Technology,” </a:t>
            </a:r>
            <a:r>
              <a:rPr lang="en-IN" i="1" dirty="0">
                <a:latin typeface="Times New Roman" panose="02020603050405020304" pitchFamily="18" charset="0"/>
                <a:cs typeface="Times New Roman" panose="02020603050405020304" pitchFamily="18" charset="0"/>
              </a:rPr>
              <a:t>International Journal of Recent Technology and Engineering (IJRTE)</a:t>
            </a:r>
            <a:r>
              <a:rPr lang="en-IN" dirty="0">
                <a:latin typeface="Times New Roman" panose="02020603050405020304" pitchFamily="18" charset="0"/>
                <a:cs typeface="Times New Roman" panose="02020603050405020304" pitchFamily="18" charset="0"/>
              </a:rPr>
              <a:t>, vol. 8, no. 4, pp. 1–6, 2019, DOI: N/A.</a:t>
            </a:r>
          </a:p>
          <a:p>
            <a:pPr marL="285750" indent="-285750"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Ranga Sreedhar Galla, “Diminishing Road Accidents on Sharp Curves Using Arduino,” </a:t>
            </a:r>
            <a:r>
              <a:rPr lang="en-US" i="1" dirty="0">
                <a:latin typeface="Times New Roman" panose="02020603050405020304" pitchFamily="18" charset="0"/>
                <a:cs typeface="Times New Roman" panose="02020603050405020304" pitchFamily="18" charset="0"/>
              </a:rPr>
              <a:t>International Journal of Recent Technology and Engineering (IJRTE)</a:t>
            </a:r>
            <a:r>
              <a:rPr lang="en-US" dirty="0">
                <a:latin typeface="Times New Roman" panose="02020603050405020304" pitchFamily="18" charset="0"/>
                <a:cs typeface="Times New Roman" panose="02020603050405020304" pitchFamily="18" charset="0"/>
              </a:rPr>
              <a:t>, vol. 8, no. 4, pp. 1–4, 2019, DOI: N/A.</a:t>
            </a:r>
            <a:endParaRPr kumimoji="0" lang="en-IN" sz="1400" b="0"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Arial" panose="020B0604020202020204"/>
            </a:endParaRPr>
          </a:p>
        </p:txBody>
      </p:sp>
    </p:spTree>
    <p:extLst>
      <p:ext uri="{BB962C8B-B14F-4D97-AF65-F5344CB8AC3E}">
        <p14:creationId xmlns:p14="http://schemas.microsoft.com/office/powerpoint/2010/main" val="4261794021"/>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38EAC5F-E4D0-7E8C-474E-6E1638B0D4DC}"/>
              </a:ext>
            </a:extLst>
          </p:cNvPr>
          <p:cNvSpPr>
            <a:spLocks noGrp="1"/>
          </p:cNvSpPr>
          <p:nvPr>
            <p:ph type="sldNum" sz="quarter" idx="2"/>
          </p:nvPr>
        </p:nvSpPr>
        <p:spPr/>
        <p:txBody>
          <a:bodyPr/>
          <a:lstStyle/>
          <a:p>
            <a:fld id="{86CB4B4D-7CA3-9044-876B-883B54F8677D}" type="slidenum">
              <a:rPr lang="en-IN" smtClean="0"/>
              <a:t>15</a:t>
            </a:fld>
            <a:endParaRPr lang="en-IN"/>
          </a:p>
        </p:txBody>
      </p:sp>
      <p:sp>
        <p:nvSpPr>
          <p:cNvPr id="5" name="TextBox 4">
            <a:extLst>
              <a:ext uri="{FF2B5EF4-FFF2-40B4-BE49-F238E27FC236}">
                <a16:creationId xmlns:a16="http://schemas.microsoft.com/office/drawing/2014/main" id="{86381500-19F4-F9D4-25DC-7CC888199812}"/>
              </a:ext>
            </a:extLst>
          </p:cNvPr>
          <p:cNvSpPr txBox="1"/>
          <p:nvPr/>
        </p:nvSpPr>
        <p:spPr>
          <a:xfrm>
            <a:off x="2815644" y="2156252"/>
            <a:ext cx="3396120" cy="830995"/>
          </a:xfrm>
          <a:prstGeom prst="rect">
            <a:avLst/>
          </a:prstGeom>
          <a:noFill/>
          <a:ln w="12700" cap="flat">
            <a:noFill/>
            <a:miter lim="400000"/>
          </a:ln>
        </p:spPr>
        <p:style>
          <a:lnRef idx="0">
            <a:srgbClr val="FFFFFF"/>
          </a:lnRef>
          <a:fillRef idx="0">
            <a:srgbClr val="FFFFFF"/>
          </a:fillRef>
          <a:effectRef idx="0">
            <a:srgbClr val="FFFFFF"/>
          </a:effectRef>
          <a:fontRef idx="none"/>
        </p:style>
        <p:txBody>
          <a:bodyPr rot="0" spcFirstLastPara="1" vertOverflow="overflow" horzOverflow="overflow" vert="horz" wrap="non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kumimoji="0" lang="en-IN" sz="4800" b="1" i="0" u="none" strike="noStrike" cap="none" spc="0" normalizeH="0" baseline="0" dirty="0">
                <a:ln>
                  <a:noFill/>
                </a:ln>
                <a:solidFill>
                  <a:srgbClr val="000000"/>
                </a:solidFill>
                <a:effectLst/>
                <a:uFillTx/>
                <a:latin typeface="Algerian" panose="04020705040A02060702" pitchFamily="82" charset="0"/>
                <a:sym typeface="Arial" panose="020B0604020202020204"/>
              </a:rPr>
              <a:t>Thank you</a:t>
            </a:r>
          </a:p>
        </p:txBody>
      </p:sp>
      <p:sp>
        <p:nvSpPr>
          <p:cNvPr id="6" name="Footer Placeholder 4">
            <a:extLst>
              <a:ext uri="{FF2B5EF4-FFF2-40B4-BE49-F238E27FC236}">
                <a16:creationId xmlns:a16="http://schemas.microsoft.com/office/drawing/2014/main" id="{49416887-59F4-FDAD-CF6E-8093BFD5437C}"/>
              </a:ext>
            </a:extLst>
          </p:cNvPr>
          <p:cNvSpPr txBox="1"/>
          <p:nvPr/>
        </p:nvSpPr>
        <p:spPr>
          <a:xfrm>
            <a:off x="1449990" y="4764397"/>
            <a:ext cx="6127428" cy="279634"/>
          </a:xfrm>
          <a:prstGeom prst="rect">
            <a:avLst/>
          </a:prstGeom>
          <a:ln w="12700">
            <a:miter lim="400000"/>
          </a:ln>
        </p:spPr>
        <p:txBody>
          <a:bodyPr wrap="square" lIns="47025" tIns="47025" rIns="47025" bIns="47025" anchor="ctr">
            <a:spAutoFit/>
          </a:bodyPr>
          <a:lstStyle>
            <a:lvl1pPr algn="ctr">
              <a:defRPr sz="1200">
                <a:solidFill>
                  <a:srgbClr val="888888"/>
                </a:solidFill>
                <a:latin typeface="Calibri" panose="020F0502020204030204"/>
                <a:ea typeface="Calibri" panose="020F0502020204030204"/>
                <a:cs typeface="Calibri" panose="020F0502020204030204"/>
                <a:sym typeface="Calibri" panose="020F0502020204030204"/>
              </a:defRPr>
            </a:lvl1pPr>
          </a:lstStyle>
          <a:p>
            <a:r>
              <a:rPr lang="en-US" dirty="0"/>
              <a:t>INDUSTRY ORIENTED MINI </a:t>
            </a:r>
            <a:r>
              <a:rPr dirty="0"/>
              <a:t>PROJECT(202</a:t>
            </a:r>
            <a:r>
              <a:rPr lang="en-IN" dirty="0"/>
              <a:t>6</a:t>
            </a:r>
            <a:r>
              <a:rPr dirty="0"/>
              <a:t>-202</a:t>
            </a:r>
            <a:r>
              <a:rPr lang="en-US" dirty="0"/>
              <a:t>7</a:t>
            </a:r>
            <a:r>
              <a:rPr dirty="0"/>
              <a:t>),</a:t>
            </a:r>
            <a:r>
              <a:rPr lang="en-IN" dirty="0"/>
              <a:t> </a:t>
            </a:r>
            <a:r>
              <a:rPr dirty="0"/>
              <a:t>DEPARTMENT OF ECE</a:t>
            </a:r>
            <a:r>
              <a:rPr lang="en-IN" dirty="0"/>
              <a:t> /ECM</a:t>
            </a:r>
            <a:r>
              <a:rPr dirty="0"/>
              <a:t> - Anurag University</a:t>
            </a:r>
          </a:p>
        </p:txBody>
      </p:sp>
    </p:spTree>
    <p:extLst>
      <p:ext uri="{BB962C8B-B14F-4D97-AF65-F5344CB8AC3E}">
        <p14:creationId xmlns:p14="http://schemas.microsoft.com/office/powerpoint/2010/main" val="93108638"/>
      </p:ext>
    </p:extLst>
  </p:cSld>
  <p:clrMapOvr>
    <a:masterClrMapping/>
  </p:clrMapOvr>
  <p:transition spd="med"/>
</p:sld>
</file>

<file path=ppt/theme/theme1.xml><?xml version="1.0" encoding="utf-8"?>
<a:theme xmlns:a="http://schemas.openxmlformats.org/drawingml/2006/main" name="1_Office Theme">
  <a:themeElements>
    <a:clrScheme name="1_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1_Office Theme">
      <a:majorFont>
        <a:latin typeface="Arial"/>
        <a:ea typeface="Arial"/>
        <a:cs typeface="Arial"/>
      </a:majorFont>
      <a:minorFont>
        <a:latin typeface="Helvetica"/>
        <a:ea typeface="Helvetica"/>
        <a:cs typeface="Helvetica"/>
      </a:minorFont>
    </a:fontScheme>
    <a:fmtScheme name="1_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defRPr kumimoji="0" sz="1400" b="0" i="0" u="none" strike="noStrike" cap="none" spc="0" normalizeH="0" baseline="0">
            <a:ln>
              <a:noFill/>
            </a:ln>
            <a:solidFill>
              <a:srgbClr val="000000"/>
            </a:solidFill>
            <a:effectLst/>
            <a:uFillTx/>
            <a:latin typeface="+mj-lt"/>
            <a:ea typeface="+mj-ea"/>
            <a:cs typeface="+mj-cs"/>
            <a:sym typeface="Arial" panose="020B06040202020202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lnDef>
    <a:txDef>
      <a:spPr>
        <a:noFill/>
        <a:ln w="12700" cap="flat">
          <a:noFill/>
          <a:miter lim="400000"/>
        </a:ln>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defRPr kumimoji="0" sz="1400" b="0" i="0" u="none" strike="noStrike" cap="none" spc="0" normalizeH="0" baseline="0">
            <a:ln>
              <a:noFill/>
            </a:ln>
            <a:solidFill>
              <a:srgbClr val="000000"/>
            </a:solidFill>
            <a:effectLst/>
            <a:uFillTx/>
            <a:latin typeface="+mj-lt"/>
            <a:ea typeface="+mj-ea"/>
            <a:cs typeface="+mj-cs"/>
            <a:sym typeface="Arial" panose="020B06040202020202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1_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1_Office Theme">
      <a:majorFont>
        <a:latin typeface="Arial"/>
        <a:ea typeface="Arial"/>
        <a:cs typeface="Arial"/>
      </a:majorFont>
      <a:minorFont>
        <a:latin typeface="Helvetica"/>
        <a:ea typeface="Helvetica"/>
        <a:cs typeface="Helvetica"/>
      </a:minorFont>
    </a:fontScheme>
    <a:fmtScheme name="1_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defRPr kumimoji="0" sz="1400" b="0" i="0" u="none" strike="noStrike" cap="none" spc="0" normalizeH="0" baseline="0">
            <a:ln>
              <a:noFill/>
            </a:ln>
            <a:solidFill>
              <a:srgbClr val="000000"/>
            </a:solidFill>
            <a:effectLst/>
            <a:uFillTx/>
            <a:latin typeface="+mj-lt"/>
            <a:ea typeface="+mj-ea"/>
            <a:cs typeface="+mj-cs"/>
            <a:sym typeface="Arial" panose="020B06040202020202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lnDef>
    <a:txDef>
      <a:spPr>
        <a:noFill/>
        <a:ln w="12700" cap="flat">
          <a:noFill/>
          <a:miter lim="400000"/>
        </a:ln>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defRPr kumimoji="0" sz="1400" b="0" i="0" u="none" strike="noStrike" cap="none" spc="0" normalizeH="0" baseline="0">
            <a:ln>
              <a:noFill/>
            </a:ln>
            <a:solidFill>
              <a:srgbClr val="000000"/>
            </a:solidFill>
            <a:effectLst/>
            <a:uFillTx/>
            <a:latin typeface="+mj-lt"/>
            <a:ea typeface="+mj-ea"/>
            <a:cs typeface="+mj-cs"/>
            <a:sym typeface="Arial" panose="020B0604020202020204"/>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rgbClr val="FFFFFF"/>
        </a:lnRef>
        <a:fillRef idx="0">
          <a:srgbClr val="FFFFFF"/>
        </a:fillRef>
        <a:effectRef idx="0">
          <a:srgbClr val="FFFFFF"/>
        </a:effectRef>
        <a:fontRef idx="none"/>
      </a: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Major_Project_B5_</Template>
  <TotalTime>325</TotalTime>
  <Words>1114</Words>
  <Application>Microsoft Office PowerPoint</Application>
  <PresentationFormat>On-screen Show (16:9)</PresentationFormat>
  <Paragraphs>138</Paragraphs>
  <Slides>15</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Algerian</vt:lpstr>
      <vt:lpstr>Arial</vt:lpstr>
      <vt:lpstr>Calibri</vt:lpstr>
      <vt:lpstr>Times New Roman</vt:lpstr>
      <vt:lpstr>Wingdings</vt:lpstr>
      <vt:lpstr>1_Office Theme</vt:lpstr>
      <vt:lpstr>Accident Prevention System at Blind Curves</vt:lpstr>
      <vt:lpstr>Contents</vt:lpstr>
      <vt:lpstr>Abstract</vt:lpstr>
      <vt:lpstr>Introduction</vt:lpstr>
      <vt:lpstr>Problem Statement</vt:lpstr>
      <vt:lpstr>Motivation</vt:lpstr>
      <vt:lpstr>Study of Existing Methods</vt:lpstr>
      <vt:lpstr>Objectives</vt:lpstr>
      <vt:lpstr>Methodology of Proposed Work</vt:lpstr>
      <vt:lpstr>Tools / Dataset</vt:lpstr>
      <vt:lpstr>Block Diagram</vt:lpstr>
      <vt:lpstr>Flow Diagram</vt:lpstr>
      <vt:lpstr>Flow Diagram</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DINESH KUMAR</dc:creator>
  <cp:lastModifiedBy>Avuthu Roopesh Reddy</cp:lastModifiedBy>
  <cp:revision>61</cp:revision>
  <dcterms:created xsi:type="dcterms:W3CDTF">2026-03-23T03:49:20Z</dcterms:created>
  <dcterms:modified xsi:type="dcterms:W3CDTF">2026-09-12T06:44:38Z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4BDB4CA4FCE047BE82560AA5C595328B_13</vt:lpwstr>
  </property>
  <property fmtid="{D5CDD505-2E9C-101B-9397-08002B2CF9AE}" pid="3" name="KSOProductBuildVer">
    <vt:lpwstr>1033-12.2.0.20795</vt:lpwstr>
  </property>
</Properties>
</file>